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x="18288000" cy="10287000"/>
  <p:notesSz cx="6858000" cy="9144000"/>
  <p:embeddedFontLst>
    <p:embeddedFont>
      <p:font typeface="Celandine" charset="1" panose="00000500000000000000"/>
      <p:regular r:id="rId31"/>
    </p:embeddedFont>
    <p:embeddedFont>
      <p:font typeface="Engravers' Old English BT" charset="1" panose="03040702040608030603"/>
      <p:regular r:id="rId32"/>
    </p:embeddedFont>
    <p:embeddedFont>
      <p:font typeface="Montserrat Bold" charset="1" panose="00000800000000000000"/>
      <p:regular r:id="rId33"/>
    </p:embeddedFont>
    <p:embeddedFont>
      <p:font typeface="Montserrat" charset="1" panose="00000500000000000000"/>
      <p:regular r:id="rId34"/>
    </p:embeddedFont>
    <p:embeddedFont>
      <p:font typeface="Montserrat Italics" charset="1" panose="00000500000000000000"/>
      <p:regular r:id="rId35"/>
    </p:embeddedFont>
    <p:embeddedFont>
      <p:font typeface="Bernoru UltraExpanded" charset="1" panose="00000A07000000000000"/>
      <p:regular r:id="rId36"/>
    </p:embeddedFont>
    <p:embeddedFont>
      <p:font typeface="Montserrat Bold Italics" charset="1" panose="00000800000000000000"/>
      <p:regular r:id="rId37"/>
    </p:embeddedFont>
    <p:embeddedFont>
      <p:font typeface="Anca Coder Bold" charset="1" panose="020B0809020502020204"/>
      <p:regular r:id="rId38"/>
    </p:embeddedFont>
    <p:embeddedFont>
      <p:font typeface="Anca Coder" charset="1" panose="020B0509020502020204"/>
      <p:regular r:id="rId39"/>
    </p:embeddedFont>
    <p:embeddedFont>
      <p:font typeface="Proxima Nova Bold" charset="1" panose="02000506030000020004"/>
      <p:regular r:id="rId40"/>
    </p:embeddedFont>
    <p:embeddedFont>
      <p:font typeface="Proxima Nova" charset="1" panose="02000506030000020004"/>
      <p:regular r:id="rId4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1.png" Type="http://schemas.openxmlformats.org/officeDocument/2006/relationships/image"/><Relationship Id="rId8" Target="../media/image2.svg" Type="http://schemas.openxmlformats.org/officeDocument/2006/relationships/image"/><Relationship Id="rId9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4.pn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Relationship Id="rId4" Target="../media/image18.svg" Type="http://schemas.openxmlformats.org/officeDocument/2006/relationships/image"/><Relationship Id="rId5" Target="../media/image19.png" Type="http://schemas.openxmlformats.org/officeDocument/2006/relationships/image"/><Relationship Id="rId6" Target="../media/image2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21.png" Type="http://schemas.openxmlformats.org/officeDocument/2006/relationships/image"/><Relationship Id="rId6" Target="../media/image22.svg" Type="http://schemas.openxmlformats.org/officeDocument/2006/relationships/image"/><Relationship Id="rId7" Target="../media/image23.png" Type="http://schemas.openxmlformats.org/officeDocument/2006/relationships/image"/><Relationship Id="rId8" Target="../media/image24.sv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21.png" Type="http://schemas.openxmlformats.org/officeDocument/2006/relationships/image"/><Relationship Id="rId6" Target="../media/image22.svg" Type="http://schemas.openxmlformats.org/officeDocument/2006/relationships/image"/><Relationship Id="rId7" Target="../media/image23.png" Type="http://schemas.openxmlformats.org/officeDocument/2006/relationships/image"/><Relationship Id="rId8" Target="../media/image24.sv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Relationship Id="rId4" Target="../media/image18.svg" Type="http://schemas.openxmlformats.org/officeDocument/2006/relationships/image"/><Relationship Id="rId5" Target="../media/image19.png" Type="http://schemas.openxmlformats.org/officeDocument/2006/relationships/image"/><Relationship Id="rId6" Target="../media/image20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16.pn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1.png" Type="http://schemas.openxmlformats.org/officeDocument/2006/relationships/image"/><Relationship Id="rId9" Target="../media/image2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Relationship Id="rId7" Target="../media/image1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16.pn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16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16.pn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1.png" Type="http://schemas.openxmlformats.org/officeDocument/2006/relationships/image"/><Relationship Id="rId9" Target="../media/image2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16.pn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1.png" Type="http://schemas.openxmlformats.org/officeDocument/2006/relationships/image"/><Relationship Id="rId9" Target="../media/image2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6.pn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16.pn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1.png" Type="http://schemas.openxmlformats.org/officeDocument/2006/relationships/image"/><Relationship Id="rId9" Target="../media/image2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16.pn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1.png" Type="http://schemas.openxmlformats.org/officeDocument/2006/relationships/image"/><Relationship Id="rId9" Target="../media/image2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16.pn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1.png" Type="http://schemas.openxmlformats.org/officeDocument/2006/relationships/image"/><Relationship Id="rId9" Target="../media/image2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6.pn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16.pn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1.png" Type="http://schemas.openxmlformats.org/officeDocument/2006/relationships/image"/><Relationship Id="rId9" Target="../media/image2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Relationship Id="rId7" Target="../media/image16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.svg" Type="http://schemas.openxmlformats.org/officeDocument/2006/relationships/image"/><Relationship Id="rId11" Target="../media/image16.png" Type="http://schemas.openxmlformats.org/officeDocument/2006/relationships/image"/><Relationship Id="rId12" Target="../media/image27.png" Type="http://schemas.openxmlformats.org/officeDocument/2006/relationships/image"/><Relationship Id="rId2" Target="../media/image25.png" Type="http://schemas.openxmlformats.org/officeDocument/2006/relationships/image"/><Relationship Id="rId3" Target="../media/image3.png" Type="http://schemas.openxmlformats.org/officeDocument/2006/relationships/image"/><Relationship Id="rId4" Target="../media/image26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1045095">
            <a:off x="-1735563" y="7092978"/>
            <a:ext cx="3921557" cy="3907297"/>
          </a:xfrm>
          <a:custGeom>
            <a:avLst/>
            <a:gdLst/>
            <a:ahLst/>
            <a:cxnLst/>
            <a:rect r="r" b="b" t="t" l="l"/>
            <a:pathLst>
              <a:path h="3907297" w="3921557">
                <a:moveTo>
                  <a:pt x="3921557" y="3907297"/>
                </a:moveTo>
                <a:lnTo>
                  <a:pt x="0" y="3907297"/>
                </a:lnTo>
                <a:lnTo>
                  <a:pt x="0" y="0"/>
                </a:lnTo>
                <a:lnTo>
                  <a:pt x="3921557" y="0"/>
                </a:lnTo>
                <a:lnTo>
                  <a:pt x="3921557" y="390729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819129" y="930297"/>
            <a:ext cx="8649742" cy="8122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1"/>
              </a:lnSpc>
            </a:pPr>
            <a:r>
              <a:rPr lang="en-US" sz="3101">
                <a:solidFill>
                  <a:srgbClr val="FFFFFF">
                    <a:alpha val="37647"/>
                  </a:srgbClr>
                </a:solidFill>
                <a:latin typeface="Celandine"/>
                <a:ea typeface="Celandine"/>
                <a:cs typeface="Celandine"/>
                <a:sym typeface="Celandine"/>
              </a:rPr>
              <a:t>⠀⠀⠀⠀⠀⠀⠀⠀⠀⢀⣠⠤⠴⠒⠒⠒⠒⠢⠤⣄⣀⠀⠀⠀⠀⠀⠀⠀⠀⠀</a:t>
            </a:r>
          </a:p>
          <a:p>
            <a:pPr algn="ctr">
              <a:lnSpc>
                <a:spcPts val="4341"/>
              </a:lnSpc>
            </a:pPr>
            <a:r>
              <a:rPr lang="en-US" sz="3101">
                <a:solidFill>
                  <a:srgbClr val="FFFFFF">
                    <a:alpha val="37647"/>
                  </a:srgbClr>
                </a:solidFill>
                <a:latin typeface="Celandine"/>
                <a:ea typeface="Celandine"/>
                <a:cs typeface="Celandine"/>
                <a:sym typeface="Celandine"/>
              </a:rPr>
              <a:t>⠀⠀⠀⠀⠀⠀⣠⡔⠋⠉⠀⠀⠀⠀⠀⠀⠀⠀⠀⠀⠈⠙⢲⣄⡀⠀⠀⠀⠀⠀</a:t>
            </a:r>
          </a:p>
          <a:p>
            <a:pPr algn="ctr">
              <a:lnSpc>
                <a:spcPts val="4341"/>
              </a:lnSpc>
            </a:pPr>
            <a:r>
              <a:rPr lang="en-US" sz="3101">
                <a:solidFill>
                  <a:srgbClr val="FFFFFF">
                    <a:alpha val="37647"/>
                  </a:srgbClr>
                </a:solidFill>
                <a:latin typeface="Celandine"/>
                <a:ea typeface="Celandine"/>
                <a:cs typeface="Celandine"/>
                <a:sym typeface="Celandine"/>
              </a:rPr>
              <a:t>⠀⠀⠀⠀⣠⠞⠉⣟⠳⣄⡀⠀⠀⠀⠀⠀⠀⠀⠀⠀⣠⠴⢻⠇⠙⢦⡀⠀⠀⠀</a:t>
            </a:r>
          </a:p>
          <a:p>
            <a:pPr algn="ctr">
              <a:lnSpc>
                <a:spcPts val="4341"/>
              </a:lnSpc>
            </a:pPr>
            <a:r>
              <a:rPr lang="en-US" sz="3101">
                <a:solidFill>
                  <a:srgbClr val="FFFFFF">
                    <a:alpha val="37647"/>
                  </a:srgbClr>
                </a:solidFill>
                <a:latin typeface="Celandine"/>
                <a:ea typeface="Celandine"/>
                <a:cs typeface="Celandine"/>
                <a:sym typeface="Celandine"/>
              </a:rPr>
              <a:t>⠀⠀⢀⡞⠁⠀⠀⠸⡄⠀⠙⠲⣄⠀⠀⠀⠀⣀⡴⠊⠁⠀⡞⠀⠀⠀⠹⣄⠀⠀</a:t>
            </a:r>
          </a:p>
          <a:p>
            <a:pPr algn="ctr">
              <a:lnSpc>
                <a:spcPts val="4341"/>
              </a:lnSpc>
            </a:pPr>
            <a:r>
              <a:rPr lang="en-US" sz="3101">
                <a:solidFill>
                  <a:srgbClr val="FFFFFF">
                    <a:alpha val="37647"/>
                  </a:srgbClr>
                </a:solidFill>
                <a:latin typeface="Celandine"/>
                <a:ea typeface="Celandine"/>
                <a:cs typeface="Celandine"/>
                <a:sym typeface="Celandine"/>
              </a:rPr>
              <a:t>⠀⢀⠏⠀⠀⠀⠀⠀⢳⠀⠀⠀⠈⠙⢦⣤⠞⠁⠀⠀⠀⣸⠁⠀⠀⠀⠀⠘⡆⠀</a:t>
            </a:r>
          </a:p>
          <a:p>
            <a:pPr algn="ctr">
              <a:lnSpc>
                <a:spcPts val="4341"/>
              </a:lnSpc>
            </a:pPr>
            <a:r>
              <a:rPr lang="en-US" sz="3101">
                <a:solidFill>
                  <a:srgbClr val="FFFFFF">
                    <a:alpha val="37647"/>
                  </a:srgbClr>
                </a:solidFill>
                <a:latin typeface="Celandine"/>
                <a:ea typeface="Celandine"/>
                <a:cs typeface="Celandine"/>
                <a:sym typeface="Celandine"/>
              </a:rPr>
              <a:t>⠀⡞⠀⠀⠀⠀⠀⠀⠈⡆⠀⢀⣠⠞⠉⠈⠓⢦⡀⠀⢠⠇⠀⠀⠀⠀⠀⠀⢹⡀</a:t>
            </a:r>
          </a:p>
          <a:p>
            <a:pPr algn="ctr">
              <a:lnSpc>
                <a:spcPts val="4341"/>
              </a:lnSpc>
            </a:pPr>
            <a:r>
              <a:rPr lang="en-US" sz="3101">
                <a:solidFill>
                  <a:srgbClr val="FFFFFF">
                    <a:alpha val="37647"/>
                  </a:srgbClr>
                </a:solidFill>
                <a:latin typeface="Celandine"/>
                <a:ea typeface="Celandine"/>
                <a:cs typeface="Celandine"/>
                <a:sym typeface="Celandine"/>
              </a:rPr>
              <a:t>⢠⠇</a:t>
            </a:r>
            <a:r>
              <a:rPr lang="en-US" sz="3101">
                <a:solidFill>
                  <a:srgbClr val="FFFFFF">
                    <a:alpha val="37647"/>
                  </a:srgbClr>
                </a:solidFill>
                <a:latin typeface="Celandine"/>
                <a:ea typeface="Celandine"/>
                <a:cs typeface="Celandine"/>
                <a:sym typeface="Celandine"/>
              </a:rPr>
              <a:t>⠀⠀⠀⠀⠀⠀⠀⣸⡖⠋⠀⠀⠀⠀⠀⠀⠉⠳⣾⡀⠀⠀⠀⠀⠀⠀⠀⡇</a:t>
            </a:r>
          </a:p>
          <a:p>
            <a:pPr algn="ctr">
              <a:lnSpc>
                <a:spcPts val="4341"/>
              </a:lnSpc>
            </a:pPr>
            <a:r>
              <a:rPr lang="en-US" sz="3101">
                <a:solidFill>
                  <a:srgbClr val="FFFFFF">
                    <a:alpha val="37647"/>
                  </a:srgbClr>
                </a:solidFill>
                <a:latin typeface="Celandine"/>
                <a:ea typeface="Celandine"/>
                <a:cs typeface="Celandine"/>
                <a:sym typeface="Celandine"/>
              </a:rPr>
              <a:t>⢸⠀⠀</a:t>
            </a:r>
            <a:r>
              <a:rPr lang="en-US" sz="3101">
                <a:solidFill>
                  <a:srgbClr val="FFFFFF">
                    <a:alpha val="37647"/>
                  </a:srgbClr>
                </a:solidFill>
                <a:latin typeface="Celandine"/>
                <a:ea typeface="Celandine"/>
                <a:cs typeface="Celandine"/>
                <a:sym typeface="Celandine"/>
              </a:rPr>
              <a:t>⠀⠀⠀⢀⡴⠊⠁⢧⠀⠀⠀⠀⠀⠀⠀⠀⢰⠃⠙⠲⣄⠀⠀⠀⠀⠀⡇</a:t>
            </a:r>
          </a:p>
          <a:p>
            <a:pPr algn="ctr">
              <a:lnSpc>
                <a:spcPts val="4341"/>
              </a:lnSpc>
            </a:pPr>
            <a:r>
              <a:rPr lang="en-US" sz="3101">
                <a:solidFill>
                  <a:srgbClr val="FFFFFF">
                    <a:alpha val="37647"/>
                  </a:srgbClr>
                </a:solidFill>
                <a:latin typeface="Celandine"/>
                <a:ea typeface="Celandine"/>
                <a:cs typeface="Celandine"/>
                <a:sym typeface="Celandine"/>
              </a:rPr>
              <a:t>⠸⡄⠀⢀⡤⠚⠁⠀</a:t>
            </a:r>
            <a:r>
              <a:rPr lang="en-US" sz="3101">
                <a:solidFill>
                  <a:srgbClr val="FFFFFF">
                    <a:alpha val="37647"/>
                  </a:srgbClr>
                </a:solidFill>
                <a:latin typeface="Celandine"/>
                <a:ea typeface="Celandine"/>
                <a:cs typeface="Celandine"/>
                <a:sym typeface="Celandine"/>
              </a:rPr>
              <a:t>⠀⠀⠘⡆⠀⠀⠀⠀⠀⠀⢀⡏⠀⠀⠀⠈⠙⢦⣀⠀⠀⡇</a:t>
            </a:r>
          </a:p>
          <a:p>
            <a:pPr algn="ctr">
              <a:lnSpc>
                <a:spcPts val="4341"/>
              </a:lnSpc>
            </a:pPr>
            <a:r>
              <a:rPr lang="en-US" sz="3101">
                <a:solidFill>
                  <a:srgbClr val="FFFFFF">
                    <a:alpha val="37647"/>
                  </a:srgbClr>
                </a:solidFill>
                <a:latin typeface="Celandine"/>
                <a:ea typeface="Celandine"/>
                <a:cs typeface="Celandine"/>
                <a:sym typeface="Celandine"/>
              </a:rPr>
              <a:t>⠀⢧⣾⣭⣤⣤⣤⣤⣤⣤⣤⣽⣤⣤⣤⣤⣤⣤⣾⣤⣤⣤⣤⣤⣤⣤⣬⣷⣶⠃</a:t>
            </a:r>
          </a:p>
          <a:p>
            <a:pPr algn="ctr">
              <a:lnSpc>
                <a:spcPts val="4341"/>
              </a:lnSpc>
            </a:pPr>
            <a:r>
              <a:rPr lang="en-US" sz="3101">
                <a:solidFill>
                  <a:srgbClr val="FFFFFF">
                    <a:alpha val="37647"/>
                  </a:srgbClr>
                </a:solidFill>
                <a:latin typeface="Celandine"/>
                <a:ea typeface="Celandine"/>
                <a:cs typeface="Celandine"/>
                <a:sym typeface="Celandine"/>
              </a:rPr>
              <a:t>⠀⠘⣆⠀⠀⠀⠀⠀⠀⠀⠀⠀⢧⠀⠀⠀⠀⢰⠃⠀⠀⠀⠀⠀⠀⠀⠀⢠⠏⠀</a:t>
            </a:r>
          </a:p>
          <a:p>
            <a:pPr algn="ctr">
              <a:lnSpc>
                <a:spcPts val="4341"/>
              </a:lnSpc>
            </a:pPr>
            <a:r>
              <a:rPr lang="en-US" sz="3101">
                <a:solidFill>
                  <a:srgbClr val="FFFFFF">
                    <a:alpha val="37647"/>
                  </a:srgbClr>
                </a:solidFill>
                <a:latin typeface="Celandine"/>
                <a:ea typeface="Celandine"/>
                <a:cs typeface="Celandine"/>
                <a:sym typeface="Celandine"/>
              </a:rPr>
              <a:t>⠀⠀⠘⢦⠀⠀⠀⠀⠀⠀⠀⠀⠘⡆⠀⠀⢀⡏⠀⠀⠀⠀⠀⠀⠀⠀⣠⠏⠀⠀</a:t>
            </a:r>
          </a:p>
          <a:p>
            <a:pPr algn="ctr">
              <a:lnSpc>
                <a:spcPts val="4341"/>
              </a:lnSpc>
            </a:pPr>
            <a:r>
              <a:rPr lang="en-US" sz="3101">
                <a:solidFill>
                  <a:srgbClr val="FFFFFF">
                    <a:alpha val="37647"/>
                  </a:srgbClr>
                </a:solidFill>
                <a:latin typeface="Celandine"/>
                <a:ea typeface="Celandine"/>
                <a:cs typeface="Celandine"/>
                <a:sym typeface="Celandine"/>
              </a:rPr>
              <a:t>⠀⠀⠀⠈⠳⣄⠀⠀⠀⠀⠀⠀⠀⢹⡀⠀⡼⠀⠀⠀⠀⠀⠀⠀⣠⠞⠁⠀⠀⠀</a:t>
            </a:r>
          </a:p>
          <a:p>
            <a:pPr algn="ctr">
              <a:lnSpc>
                <a:spcPts val="4341"/>
              </a:lnSpc>
            </a:pPr>
            <a:r>
              <a:rPr lang="en-US" sz="3101">
                <a:solidFill>
                  <a:srgbClr val="FFFFFF">
                    <a:alpha val="37647"/>
                  </a:srgbClr>
                </a:solidFill>
                <a:latin typeface="Celandine"/>
                <a:ea typeface="Celandine"/>
                <a:cs typeface="Celandine"/>
                <a:sym typeface="Celandine"/>
              </a:rPr>
              <a:t>⠀⠀⠀⠀⠀⠈⠑⠦⣀⠀⠀⠀⠀⠀⣧⢰⠃⠀⠀⠀⠀⣀⡤⠞⠁⠀⠀⠀⠀⠀</a:t>
            </a:r>
          </a:p>
          <a:p>
            <a:pPr algn="ctr">
              <a:lnSpc>
                <a:spcPts val="4341"/>
              </a:lnSpc>
              <a:spcBef>
                <a:spcPct val="0"/>
              </a:spcBef>
            </a:pPr>
            <a:r>
              <a:rPr lang="en-US" sz="3101">
                <a:solidFill>
                  <a:srgbClr val="FFFFFF">
                    <a:alpha val="37647"/>
                  </a:srgbClr>
                </a:solidFill>
                <a:latin typeface="Celandine"/>
                <a:ea typeface="Celandine"/>
                <a:cs typeface="Celandine"/>
                <a:sym typeface="Celandine"/>
              </a:rPr>
              <a:t>⠀⠀⠀⠀⠀⠀⠀⠀⠀⠉⠓⠲⠤⠤⠼⠯⠤⠤⠔⠒⠋⠁⠀⠀⠀⠀⠀⠀⠀⠀</a:t>
            </a:r>
          </a:p>
        </p:txBody>
      </p:sp>
      <p:sp>
        <p:nvSpPr>
          <p:cNvPr name="Freeform 4" id="4"/>
          <p:cNvSpPr/>
          <p:nvPr/>
        </p:nvSpPr>
        <p:spPr>
          <a:xfrm flipH="true" flipV="false" rot="0">
            <a:off x="-2881013" y="8211350"/>
            <a:ext cx="24438779" cy="20925704"/>
          </a:xfrm>
          <a:custGeom>
            <a:avLst/>
            <a:gdLst/>
            <a:ahLst/>
            <a:cxnLst/>
            <a:rect r="r" b="b" t="t" l="l"/>
            <a:pathLst>
              <a:path h="20925704" w="24438779">
                <a:moveTo>
                  <a:pt x="24438779" y="0"/>
                </a:moveTo>
                <a:lnTo>
                  <a:pt x="0" y="0"/>
                </a:lnTo>
                <a:lnTo>
                  <a:pt x="0" y="20925705"/>
                </a:lnTo>
                <a:lnTo>
                  <a:pt x="24438779" y="20925705"/>
                </a:lnTo>
                <a:lnTo>
                  <a:pt x="24438779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1694695">
            <a:off x="13243521" y="-1304192"/>
            <a:ext cx="9315909" cy="3481821"/>
          </a:xfrm>
          <a:custGeom>
            <a:avLst/>
            <a:gdLst/>
            <a:ahLst/>
            <a:cxnLst/>
            <a:rect r="r" b="b" t="t" l="l"/>
            <a:pathLst>
              <a:path h="3481821" w="9315909">
                <a:moveTo>
                  <a:pt x="9315909" y="0"/>
                </a:moveTo>
                <a:lnTo>
                  <a:pt x="0" y="0"/>
                </a:lnTo>
                <a:lnTo>
                  <a:pt x="0" y="3481821"/>
                </a:lnTo>
                <a:lnTo>
                  <a:pt x="9315909" y="3481821"/>
                </a:lnTo>
                <a:lnTo>
                  <a:pt x="9315909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706637"/>
            <a:ext cx="1072617" cy="1016305"/>
          </a:xfrm>
          <a:custGeom>
            <a:avLst/>
            <a:gdLst/>
            <a:ahLst/>
            <a:cxnLst/>
            <a:rect r="r" b="b" t="t" l="l"/>
            <a:pathLst>
              <a:path h="1016305" w="1072617">
                <a:moveTo>
                  <a:pt x="0" y="0"/>
                </a:moveTo>
                <a:lnTo>
                  <a:pt x="1072617" y="0"/>
                </a:lnTo>
                <a:lnTo>
                  <a:pt x="1072617" y="1016305"/>
                </a:lnTo>
                <a:lnTo>
                  <a:pt x="0" y="10163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5400000">
            <a:off x="-3191060" y="3191060"/>
            <a:ext cx="6802647" cy="420527"/>
          </a:xfrm>
          <a:custGeom>
            <a:avLst/>
            <a:gdLst/>
            <a:ahLst/>
            <a:cxnLst/>
            <a:rect r="r" b="b" t="t" l="l"/>
            <a:pathLst>
              <a:path h="420527" w="6802647">
                <a:moveTo>
                  <a:pt x="0" y="0"/>
                </a:moveTo>
                <a:lnTo>
                  <a:pt x="6802647" y="0"/>
                </a:lnTo>
                <a:lnTo>
                  <a:pt x="6802647" y="420527"/>
                </a:lnTo>
                <a:lnTo>
                  <a:pt x="0" y="42052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45095">
            <a:off x="17141306" y="5775299"/>
            <a:ext cx="3921557" cy="3907297"/>
          </a:xfrm>
          <a:custGeom>
            <a:avLst/>
            <a:gdLst/>
            <a:ahLst/>
            <a:cxnLst/>
            <a:rect r="r" b="b" t="t" l="l"/>
            <a:pathLst>
              <a:path h="3907297" w="3921557">
                <a:moveTo>
                  <a:pt x="0" y="0"/>
                </a:moveTo>
                <a:lnTo>
                  <a:pt x="3921557" y="0"/>
                </a:lnTo>
                <a:lnTo>
                  <a:pt x="3921557" y="3907297"/>
                </a:lnTo>
                <a:lnTo>
                  <a:pt x="0" y="39072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770688" y="4079432"/>
            <a:ext cx="12746623" cy="1765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36"/>
              </a:lnSpc>
            </a:pPr>
            <a:r>
              <a:rPr lang="en-US" sz="10966">
                <a:solidFill>
                  <a:srgbClr val="D02919"/>
                </a:solidFill>
                <a:latin typeface="Engravers' Old English BT"/>
                <a:ea typeface="Engravers' Old English BT"/>
                <a:cs typeface="Engravers' Old English BT"/>
                <a:sym typeface="Engravers' Old English BT"/>
              </a:rPr>
              <a:t>Paralelização de Código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770688" y="1684842"/>
            <a:ext cx="4453836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b="true" sz="2400">
                <a:solidFill>
                  <a:srgbClr val="EAEAE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GABRIEL PERES DE SOUZA</a:t>
            </a:r>
          </a:p>
          <a:p>
            <a:pPr algn="l">
              <a:lnSpc>
                <a:spcPts val="3360"/>
              </a:lnSpc>
            </a:pPr>
            <a:r>
              <a:rPr lang="en-US" b="true" sz="2400">
                <a:solidFill>
                  <a:srgbClr val="EAEAE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202300560314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091592" y="1684842"/>
            <a:ext cx="5425719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60"/>
              </a:lnSpc>
            </a:pPr>
            <a:r>
              <a:rPr lang="en-US" b="true" sz="2400">
                <a:solidFill>
                  <a:srgbClr val="EAEAE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RODRIGO MACEDO SILVA JR</a:t>
            </a:r>
          </a:p>
          <a:p>
            <a:pPr algn="r">
              <a:lnSpc>
                <a:spcPts val="3360"/>
              </a:lnSpc>
            </a:pPr>
            <a:r>
              <a:rPr lang="en-US" b="true" sz="2400">
                <a:solidFill>
                  <a:srgbClr val="EAEAE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202300560132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2388771" y="4108723"/>
            <a:ext cx="6289473" cy="0"/>
          </a:xfrm>
          <a:prstGeom prst="line">
            <a:avLst/>
          </a:prstGeom>
          <a:ln cap="flat" w="38100">
            <a:solidFill>
              <a:srgbClr val="D0291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2391552" y="6095351"/>
            <a:ext cx="6289473" cy="0"/>
          </a:xfrm>
          <a:prstGeom prst="line">
            <a:avLst/>
          </a:prstGeom>
          <a:ln cap="flat" w="38100">
            <a:solidFill>
              <a:srgbClr val="D0291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2388771" y="8081979"/>
            <a:ext cx="6289473" cy="0"/>
          </a:xfrm>
          <a:prstGeom prst="line">
            <a:avLst/>
          </a:prstGeom>
          <a:ln cap="flat" w="38100">
            <a:solidFill>
              <a:srgbClr val="D0291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10011584" y="4127773"/>
            <a:ext cx="6289473" cy="0"/>
          </a:xfrm>
          <a:prstGeom prst="line">
            <a:avLst/>
          </a:prstGeom>
          <a:ln cap="flat" w="38100">
            <a:solidFill>
              <a:srgbClr val="D0291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10014366" y="6114401"/>
            <a:ext cx="6289473" cy="0"/>
          </a:xfrm>
          <a:prstGeom prst="line">
            <a:avLst/>
          </a:prstGeom>
          <a:ln cap="flat" w="38100">
            <a:solidFill>
              <a:srgbClr val="D0291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0011584" y="8139129"/>
            <a:ext cx="6289473" cy="0"/>
          </a:xfrm>
          <a:prstGeom prst="line">
            <a:avLst/>
          </a:prstGeom>
          <a:ln cap="flat" w="38100">
            <a:solidFill>
              <a:srgbClr val="D0291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5529206" y="-4436489"/>
            <a:ext cx="8254861" cy="7068225"/>
          </a:xfrm>
          <a:custGeom>
            <a:avLst/>
            <a:gdLst/>
            <a:ahLst/>
            <a:cxnLst/>
            <a:rect r="r" b="b" t="t" l="l"/>
            <a:pathLst>
              <a:path h="7068225" w="8254861">
                <a:moveTo>
                  <a:pt x="0" y="0"/>
                </a:moveTo>
                <a:lnTo>
                  <a:pt x="8254860" y="0"/>
                </a:lnTo>
                <a:lnTo>
                  <a:pt x="8254860" y="7068225"/>
                </a:lnTo>
                <a:lnTo>
                  <a:pt x="0" y="70682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24099" y="8525918"/>
            <a:ext cx="1009203" cy="956219"/>
          </a:xfrm>
          <a:custGeom>
            <a:avLst/>
            <a:gdLst/>
            <a:ahLst/>
            <a:cxnLst/>
            <a:rect r="r" b="b" t="t" l="l"/>
            <a:pathLst>
              <a:path h="956219" w="1009203">
                <a:moveTo>
                  <a:pt x="0" y="0"/>
                </a:moveTo>
                <a:lnTo>
                  <a:pt x="1009202" y="0"/>
                </a:lnTo>
                <a:lnTo>
                  <a:pt x="1009202" y="956220"/>
                </a:lnTo>
                <a:lnTo>
                  <a:pt x="0" y="9562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90946" y="9866473"/>
            <a:ext cx="6802647" cy="420527"/>
          </a:xfrm>
          <a:custGeom>
            <a:avLst/>
            <a:gdLst/>
            <a:ahLst/>
            <a:cxnLst/>
            <a:rect r="r" b="b" t="t" l="l"/>
            <a:pathLst>
              <a:path h="420527" w="6802647">
                <a:moveTo>
                  <a:pt x="0" y="0"/>
                </a:moveTo>
                <a:lnTo>
                  <a:pt x="6802647" y="0"/>
                </a:lnTo>
                <a:lnTo>
                  <a:pt x="6802647" y="420527"/>
                </a:lnTo>
                <a:lnTo>
                  <a:pt x="0" y="42052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301057" y="-55017"/>
            <a:ext cx="2751776" cy="2741770"/>
          </a:xfrm>
          <a:custGeom>
            <a:avLst/>
            <a:gdLst/>
            <a:ahLst/>
            <a:cxnLst/>
            <a:rect r="r" b="b" t="t" l="l"/>
            <a:pathLst>
              <a:path h="2741770" w="2751776">
                <a:moveTo>
                  <a:pt x="0" y="0"/>
                </a:moveTo>
                <a:lnTo>
                  <a:pt x="2751777" y="0"/>
                </a:lnTo>
                <a:lnTo>
                  <a:pt x="2751777" y="2741770"/>
                </a:lnTo>
                <a:lnTo>
                  <a:pt x="0" y="274177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-5866090" y="-4275107"/>
            <a:ext cx="8254861" cy="7068225"/>
          </a:xfrm>
          <a:custGeom>
            <a:avLst/>
            <a:gdLst/>
            <a:ahLst/>
            <a:cxnLst/>
            <a:rect r="r" b="b" t="t" l="l"/>
            <a:pathLst>
              <a:path h="7068225" w="8254861">
                <a:moveTo>
                  <a:pt x="8254861" y="0"/>
                </a:moveTo>
                <a:lnTo>
                  <a:pt x="0" y="0"/>
                </a:lnTo>
                <a:lnTo>
                  <a:pt x="0" y="7068224"/>
                </a:lnTo>
                <a:lnTo>
                  <a:pt x="8254861" y="7068224"/>
                </a:lnTo>
                <a:lnTo>
                  <a:pt x="8254861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-1123605" y="-55017"/>
            <a:ext cx="2751776" cy="2741770"/>
          </a:xfrm>
          <a:custGeom>
            <a:avLst/>
            <a:gdLst/>
            <a:ahLst/>
            <a:cxnLst/>
            <a:rect r="r" b="b" t="t" l="l"/>
            <a:pathLst>
              <a:path h="2741770" w="2751776">
                <a:moveTo>
                  <a:pt x="2751776" y="0"/>
                </a:moveTo>
                <a:lnTo>
                  <a:pt x="0" y="0"/>
                </a:lnTo>
                <a:lnTo>
                  <a:pt x="0" y="2741770"/>
                </a:lnTo>
                <a:lnTo>
                  <a:pt x="2751776" y="2741770"/>
                </a:lnTo>
                <a:lnTo>
                  <a:pt x="2751776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391552" y="703252"/>
            <a:ext cx="13504896" cy="167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159"/>
              </a:lnSpc>
            </a:pPr>
            <a:r>
              <a:rPr lang="en-US" sz="10966">
                <a:solidFill>
                  <a:srgbClr val="D02919"/>
                </a:solidFill>
                <a:latin typeface="Engravers' Old English BT"/>
                <a:ea typeface="Engravers' Old English BT"/>
                <a:cs typeface="Engravers' Old English BT"/>
                <a:sym typeface="Engravers' Old English BT"/>
              </a:rPr>
              <a:t>Índice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4397995" y="330474"/>
            <a:ext cx="1131210" cy="1071822"/>
          </a:xfrm>
          <a:custGeom>
            <a:avLst/>
            <a:gdLst/>
            <a:ahLst/>
            <a:cxnLst/>
            <a:rect r="r" b="b" t="t" l="l"/>
            <a:pathLst>
              <a:path h="1071822" w="1131210">
                <a:moveTo>
                  <a:pt x="0" y="0"/>
                </a:moveTo>
                <a:lnTo>
                  <a:pt x="1131211" y="0"/>
                </a:lnTo>
                <a:lnTo>
                  <a:pt x="1131211" y="1071822"/>
                </a:lnTo>
                <a:lnTo>
                  <a:pt x="0" y="10718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1064881">
            <a:off x="12872731" y="8546090"/>
            <a:ext cx="9315909" cy="3481821"/>
          </a:xfrm>
          <a:custGeom>
            <a:avLst/>
            <a:gdLst/>
            <a:ahLst/>
            <a:cxnLst/>
            <a:rect r="r" b="b" t="t" l="l"/>
            <a:pathLst>
              <a:path h="3481821" w="9315909">
                <a:moveTo>
                  <a:pt x="0" y="0"/>
                </a:moveTo>
                <a:lnTo>
                  <a:pt x="9315909" y="0"/>
                </a:lnTo>
                <a:lnTo>
                  <a:pt x="9315909" y="3481820"/>
                </a:lnTo>
                <a:lnTo>
                  <a:pt x="0" y="348182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388771" y="3530862"/>
            <a:ext cx="6289473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>
                <a:solidFill>
                  <a:srgbClr val="D02919"/>
                </a:solidFill>
                <a:latin typeface="Montserrat"/>
                <a:ea typeface="Montserrat"/>
                <a:cs typeface="Montserrat"/>
                <a:sym typeface="Montserrat"/>
              </a:rPr>
              <a:t>1. VISÃO HISTÓRICA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391552" y="5479390"/>
            <a:ext cx="6289473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99"/>
              </a:lnSpc>
            </a:pPr>
            <a:r>
              <a:rPr lang="en-US" sz="2999">
                <a:solidFill>
                  <a:srgbClr val="D02919"/>
                </a:solidFill>
                <a:latin typeface="Montserrat"/>
                <a:ea typeface="Montserrat"/>
                <a:cs typeface="Montserrat"/>
                <a:sym typeface="Montserrat"/>
              </a:rPr>
              <a:t>2. PRINCÍPIOS BÁSICOS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388771" y="7466018"/>
            <a:ext cx="6289473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99"/>
              </a:lnSpc>
            </a:pPr>
            <a:r>
              <a:rPr lang="en-US" sz="2999">
                <a:solidFill>
                  <a:srgbClr val="D02919"/>
                </a:solidFill>
                <a:latin typeface="Montserrat"/>
                <a:ea typeface="Montserrat"/>
                <a:cs typeface="Montserrat"/>
                <a:sym typeface="Montserrat"/>
              </a:rPr>
              <a:t>3. PARALELIZAÇÃO MANUAL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938842" y="5479390"/>
            <a:ext cx="6434957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99"/>
              </a:lnSpc>
            </a:pPr>
            <a:r>
              <a:rPr lang="en-US" sz="2999">
                <a:solidFill>
                  <a:srgbClr val="D02919"/>
                </a:solidFill>
                <a:latin typeface="Montserrat"/>
                <a:ea typeface="Montserrat"/>
                <a:cs typeface="Montserrat"/>
                <a:sym typeface="Montserrat"/>
              </a:rPr>
              <a:t>5. COMPILADORES OTIMIZADOS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011584" y="7466018"/>
            <a:ext cx="6289473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99"/>
              </a:lnSpc>
            </a:pPr>
            <a:r>
              <a:rPr lang="en-US" sz="2999">
                <a:solidFill>
                  <a:srgbClr val="D02919"/>
                </a:solidFill>
                <a:latin typeface="Montserrat"/>
                <a:ea typeface="Montserrat"/>
                <a:cs typeface="Montserrat"/>
                <a:sym typeface="Montserrat"/>
              </a:rPr>
              <a:t>6. CONCLUSÃO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924741" y="3530862"/>
            <a:ext cx="6463159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99"/>
              </a:lnSpc>
            </a:pPr>
            <a:r>
              <a:rPr lang="en-US" sz="2999">
                <a:solidFill>
                  <a:srgbClr val="D02919"/>
                </a:solidFill>
                <a:latin typeface="Montserrat"/>
                <a:ea typeface="Montserrat"/>
                <a:cs typeface="Montserrat"/>
                <a:sym typeface="Montserrat"/>
              </a:rPr>
              <a:t>4. PARALELIZAÇÃO AUTOMÁTICA</a:t>
            </a:r>
          </a:p>
        </p:txBody>
      </p:sp>
    </p:spTree>
  </p:cSld>
  <p:clrMapOvr>
    <a:masterClrMapping/>
  </p:clrMapOvr>
  <p:transition spd="fast">
    <p:cover dir="rd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02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106106" y="-1140819"/>
            <a:ext cx="12568637" cy="12568637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32500" t="0" r="-68504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9628500" y="7406390"/>
            <a:ext cx="6493178" cy="5761220"/>
          </a:xfrm>
          <a:custGeom>
            <a:avLst/>
            <a:gdLst/>
            <a:ahLst/>
            <a:cxnLst/>
            <a:rect r="r" b="b" t="t" l="l"/>
            <a:pathLst>
              <a:path h="5761220" w="6493178">
                <a:moveTo>
                  <a:pt x="0" y="0"/>
                </a:moveTo>
                <a:lnTo>
                  <a:pt x="6493178" y="0"/>
                </a:lnTo>
                <a:lnTo>
                  <a:pt x="6493178" y="5761220"/>
                </a:lnTo>
                <a:lnTo>
                  <a:pt x="0" y="57612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13200" y="1443132"/>
            <a:ext cx="8115300" cy="167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159"/>
              </a:lnSpc>
            </a:pPr>
            <a:r>
              <a:rPr lang="en-US" sz="10966">
                <a:solidFill>
                  <a:srgbClr val="FFFFFF"/>
                </a:solidFill>
                <a:latin typeface="Engravers' Old English BT"/>
                <a:ea typeface="Engravers' Old English BT"/>
                <a:cs typeface="Engravers' Old English BT"/>
                <a:sym typeface="Engravers' Old English BT"/>
              </a:rPr>
              <a:t>Visão Histórica</a:t>
            </a:r>
          </a:p>
        </p:txBody>
      </p:sp>
      <p:sp>
        <p:nvSpPr>
          <p:cNvPr name="Freeform 6" id="6"/>
          <p:cNvSpPr/>
          <p:nvPr/>
        </p:nvSpPr>
        <p:spPr>
          <a:xfrm flipH="true" flipV="false" rot="-2700000">
            <a:off x="-4237427" y="-1122091"/>
            <a:ext cx="9315909" cy="3481821"/>
          </a:xfrm>
          <a:custGeom>
            <a:avLst/>
            <a:gdLst/>
            <a:ahLst/>
            <a:cxnLst/>
            <a:rect r="r" b="b" t="t" l="l"/>
            <a:pathLst>
              <a:path h="3481821" w="9315909">
                <a:moveTo>
                  <a:pt x="9315909" y="0"/>
                </a:moveTo>
                <a:lnTo>
                  <a:pt x="0" y="0"/>
                </a:lnTo>
                <a:lnTo>
                  <a:pt x="0" y="3481821"/>
                </a:lnTo>
                <a:lnTo>
                  <a:pt x="9315909" y="3481821"/>
                </a:lnTo>
                <a:lnTo>
                  <a:pt x="9315909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5400000">
            <a:off x="-3191060" y="9048036"/>
            <a:ext cx="6802647" cy="420527"/>
          </a:xfrm>
          <a:custGeom>
            <a:avLst/>
            <a:gdLst/>
            <a:ahLst/>
            <a:cxnLst/>
            <a:rect r="r" b="b" t="t" l="l"/>
            <a:pathLst>
              <a:path h="420527" w="6802647">
                <a:moveTo>
                  <a:pt x="0" y="0"/>
                </a:moveTo>
                <a:lnTo>
                  <a:pt x="6802647" y="0"/>
                </a:lnTo>
                <a:lnTo>
                  <a:pt x="6802647" y="420528"/>
                </a:lnTo>
                <a:lnTo>
                  <a:pt x="0" y="4205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513200" y="3943350"/>
            <a:ext cx="8115300" cy="5314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Tradicionalmente, o software era escrito para execução serial. Uma única CPU  executava uma instrução de cada vez, em sequência, o "fluxo serial de instruções".</a:t>
            </a:r>
          </a:p>
          <a:p>
            <a:pPr algn="just" marL="0" indent="0" lvl="0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Por muitos anos, os ganhos de performance vinham do aumento da frequência (velocidade de </a:t>
            </a:r>
            <a:r>
              <a:rPr lang="en-US" sz="3000" i="tru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clock</a:t>
            </a: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) da CPU. No entanto, o aumento da frequência gerou problemas de calor e consumo de energia.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13200" y="3081432"/>
            <a:ext cx="8115300" cy="64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00"/>
              </a:lnSpc>
            </a:pPr>
            <a:r>
              <a:rPr lang="en-US" sz="4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ERA PRÉ-MULTICORE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02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8555637">
            <a:off x="-396671" y="-2681982"/>
            <a:ext cx="2850742" cy="6478959"/>
          </a:xfrm>
          <a:custGeom>
            <a:avLst/>
            <a:gdLst/>
            <a:ahLst/>
            <a:cxnLst/>
            <a:rect r="r" b="b" t="t" l="l"/>
            <a:pathLst>
              <a:path h="6478959" w="2850742">
                <a:moveTo>
                  <a:pt x="0" y="0"/>
                </a:moveTo>
                <a:lnTo>
                  <a:pt x="2850742" y="0"/>
                </a:lnTo>
                <a:lnTo>
                  <a:pt x="2850742" y="6478959"/>
                </a:lnTo>
                <a:lnTo>
                  <a:pt x="0" y="64789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075852" y="1028700"/>
            <a:ext cx="2183448" cy="2068817"/>
          </a:xfrm>
          <a:custGeom>
            <a:avLst/>
            <a:gdLst/>
            <a:ahLst/>
            <a:cxnLst/>
            <a:rect r="r" b="b" t="t" l="l"/>
            <a:pathLst>
              <a:path h="2068817" w="2183448">
                <a:moveTo>
                  <a:pt x="0" y="0"/>
                </a:moveTo>
                <a:lnTo>
                  <a:pt x="2183448" y="0"/>
                </a:lnTo>
                <a:lnTo>
                  <a:pt x="2183448" y="2068817"/>
                </a:lnTo>
                <a:lnTo>
                  <a:pt x="0" y="20688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443117" y="0"/>
            <a:ext cx="6802647" cy="420527"/>
          </a:xfrm>
          <a:custGeom>
            <a:avLst/>
            <a:gdLst/>
            <a:ahLst/>
            <a:cxnLst/>
            <a:rect r="r" b="b" t="t" l="l"/>
            <a:pathLst>
              <a:path h="420527" w="6802647">
                <a:moveTo>
                  <a:pt x="0" y="0"/>
                </a:moveTo>
                <a:lnTo>
                  <a:pt x="6802647" y="0"/>
                </a:lnTo>
                <a:lnTo>
                  <a:pt x="6802647" y="420527"/>
                </a:lnTo>
                <a:lnTo>
                  <a:pt x="0" y="42052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165225">
            <a:off x="17163597" y="5471952"/>
            <a:ext cx="2850742" cy="6478959"/>
          </a:xfrm>
          <a:custGeom>
            <a:avLst/>
            <a:gdLst/>
            <a:ahLst/>
            <a:cxnLst/>
            <a:rect r="r" b="b" t="t" l="l"/>
            <a:pathLst>
              <a:path h="6478959" w="2850742">
                <a:moveTo>
                  <a:pt x="0" y="0"/>
                </a:moveTo>
                <a:lnTo>
                  <a:pt x="2850741" y="0"/>
                </a:lnTo>
                <a:lnTo>
                  <a:pt x="2850741" y="6478958"/>
                </a:lnTo>
                <a:lnTo>
                  <a:pt x="0" y="64789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9866473"/>
            <a:ext cx="6802647" cy="420527"/>
          </a:xfrm>
          <a:custGeom>
            <a:avLst/>
            <a:gdLst/>
            <a:ahLst/>
            <a:cxnLst/>
            <a:rect r="r" b="b" t="t" l="l"/>
            <a:pathLst>
              <a:path h="420527" w="6802647">
                <a:moveTo>
                  <a:pt x="0" y="0"/>
                </a:moveTo>
                <a:lnTo>
                  <a:pt x="6802647" y="0"/>
                </a:lnTo>
                <a:lnTo>
                  <a:pt x="6802647" y="420527"/>
                </a:lnTo>
                <a:lnTo>
                  <a:pt x="0" y="42052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645897" y="1421117"/>
            <a:ext cx="10996207" cy="167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159"/>
              </a:lnSpc>
            </a:pPr>
            <a:r>
              <a:rPr lang="en-US" sz="10966">
                <a:solidFill>
                  <a:srgbClr val="FFFFFF"/>
                </a:solidFill>
                <a:latin typeface="Engravers' Old English BT"/>
                <a:ea typeface="Engravers' Old English BT"/>
                <a:cs typeface="Engravers' Old English BT"/>
                <a:sym typeface="Engravers' Old English BT"/>
              </a:rPr>
              <a:t>Visão Histórica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394980" y="4549085"/>
            <a:ext cx="13514205" cy="3714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Com o passar do tempo, os fabricantes de hardware migraram para arquiteturas com múltiplos núcleos de processamento (cores) na mesma CPU. Cada núcleo é independente e pode executar um conjunto de instruções diferente simultaneamente.</a:t>
            </a:r>
          </a:p>
          <a:p>
            <a:pPr algn="just">
              <a:lnSpc>
                <a:spcPts val="4200"/>
              </a:lnSpc>
            </a:pPr>
          </a:p>
          <a:p>
            <a:pPr algn="just" marL="0" indent="0" lvl="0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Conclusão: Hoje, o desempenho depende da capacidade do software (e, portanto, do compilador) de explorar esses múltiplos núcleos.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086350" y="3174862"/>
            <a:ext cx="8115300" cy="64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200"/>
              </a:lnSpc>
            </a:pPr>
            <a:r>
              <a:rPr lang="en-US" sz="4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 SOLUÇÃO MULTICORE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406358" y="4898087"/>
            <a:ext cx="13475284" cy="3181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Cada Subtarefa é executada por uma unidade de processamento (CPU core, thread, GPU).</a:t>
            </a: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As subtarefas, se forem independentes, podem ser executadas em paralelo.</a:t>
            </a: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 resultado final é obtido pela combinação dos resultados das subtarefas.</a:t>
            </a:r>
          </a:p>
        </p:txBody>
      </p:sp>
      <p:sp>
        <p:nvSpPr>
          <p:cNvPr name="Freeform 3" id="3"/>
          <p:cNvSpPr/>
          <p:nvPr/>
        </p:nvSpPr>
        <p:spPr>
          <a:xfrm flipH="true" flipV="false" rot="0">
            <a:off x="16324678" y="8191152"/>
            <a:ext cx="2751776" cy="2741770"/>
          </a:xfrm>
          <a:custGeom>
            <a:avLst/>
            <a:gdLst/>
            <a:ahLst/>
            <a:cxnLst/>
            <a:rect r="r" b="b" t="t" l="l"/>
            <a:pathLst>
              <a:path h="2741770" w="2751776">
                <a:moveTo>
                  <a:pt x="2751777" y="0"/>
                </a:moveTo>
                <a:lnTo>
                  <a:pt x="0" y="0"/>
                </a:lnTo>
                <a:lnTo>
                  <a:pt x="0" y="2741770"/>
                </a:lnTo>
                <a:lnTo>
                  <a:pt x="2751777" y="2741770"/>
                </a:lnTo>
                <a:lnTo>
                  <a:pt x="275177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955361" y="8191152"/>
            <a:ext cx="2751776" cy="2741770"/>
          </a:xfrm>
          <a:custGeom>
            <a:avLst/>
            <a:gdLst/>
            <a:ahLst/>
            <a:cxnLst/>
            <a:rect r="r" b="b" t="t" l="l"/>
            <a:pathLst>
              <a:path h="2741770" w="2751776">
                <a:moveTo>
                  <a:pt x="2751777" y="0"/>
                </a:moveTo>
                <a:lnTo>
                  <a:pt x="0" y="0"/>
                </a:lnTo>
                <a:lnTo>
                  <a:pt x="0" y="2741770"/>
                </a:lnTo>
                <a:lnTo>
                  <a:pt x="2751777" y="2741770"/>
                </a:lnTo>
                <a:lnTo>
                  <a:pt x="275177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3075389" y="9106466"/>
            <a:ext cx="24438779" cy="20925704"/>
          </a:xfrm>
          <a:custGeom>
            <a:avLst/>
            <a:gdLst/>
            <a:ahLst/>
            <a:cxnLst/>
            <a:rect r="r" b="b" t="t" l="l"/>
            <a:pathLst>
              <a:path h="20925704" w="24438779">
                <a:moveTo>
                  <a:pt x="24438778" y="0"/>
                </a:moveTo>
                <a:lnTo>
                  <a:pt x="0" y="0"/>
                </a:lnTo>
                <a:lnTo>
                  <a:pt x="0" y="20925705"/>
                </a:lnTo>
                <a:lnTo>
                  <a:pt x="24438778" y="20925705"/>
                </a:lnTo>
                <a:lnTo>
                  <a:pt x="24438778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820307"/>
            <a:ext cx="910248" cy="862460"/>
          </a:xfrm>
          <a:custGeom>
            <a:avLst/>
            <a:gdLst/>
            <a:ahLst/>
            <a:cxnLst/>
            <a:rect r="r" b="b" t="t" l="l"/>
            <a:pathLst>
              <a:path h="862460" w="910248">
                <a:moveTo>
                  <a:pt x="0" y="0"/>
                </a:moveTo>
                <a:lnTo>
                  <a:pt x="910248" y="0"/>
                </a:lnTo>
                <a:lnTo>
                  <a:pt x="910248" y="862459"/>
                </a:lnTo>
                <a:lnTo>
                  <a:pt x="0" y="86245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5400000">
            <a:off x="-3191060" y="3191060"/>
            <a:ext cx="6802647" cy="420527"/>
          </a:xfrm>
          <a:custGeom>
            <a:avLst/>
            <a:gdLst/>
            <a:ahLst/>
            <a:cxnLst/>
            <a:rect r="r" b="b" t="t" l="l"/>
            <a:pathLst>
              <a:path h="420527" w="6802647">
                <a:moveTo>
                  <a:pt x="0" y="0"/>
                </a:moveTo>
                <a:lnTo>
                  <a:pt x="6802647" y="0"/>
                </a:lnTo>
                <a:lnTo>
                  <a:pt x="6802647" y="420527"/>
                </a:lnTo>
                <a:lnTo>
                  <a:pt x="0" y="42052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2529900">
            <a:off x="16275196" y="-2210779"/>
            <a:ext cx="2850742" cy="6478959"/>
          </a:xfrm>
          <a:custGeom>
            <a:avLst/>
            <a:gdLst/>
            <a:ahLst/>
            <a:cxnLst/>
            <a:rect r="r" b="b" t="t" l="l"/>
            <a:pathLst>
              <a:path h="6478959" w="2850742">
                <a:moveTo>
                  <a:pt x="0" y="0"/>
                </a:moveTo>
                <a:lnTo>
                  <a:pt x="2850741" y="0"/>
                </a:lnTo>
                <a:lnTo>
                  <a:pt x="2850741" y="6478958"/>
                </a:lnTo>
                <a:lnTo>
                  <a:pt x="0" y="647895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189550" y="1482167"/>
            <a:ext cx="13908900" cy="1784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256"/>
              </a:lnSpc>
            </a:pPr>
            <a:r>
              <a:rPr lang="en-US" sz="10966">
                <a:solidFill>
                  <a:srgbClr val="D02919"/>
                </a:solidFill>
                <a:latin typeface="Engravers' Old English BT"/>
                <a:ea typeface="Engravers' Old English BT"/>
                <a:cs typeface="Engravers' Old English BT"/>
                <a:sym typeface="Engravers' Old English BT"/>
              </a:rPr>
              <a:t>Princípios Básicos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247200" y="3321783"/>
            <a:ext cx="5793600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RESUMO DO PROCESSO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6324678" y="8191152"/>
            <a:ext cx="2751776" cy="2741770"/>
          </a:xfrm>
          <a:custGeom>
            <a:avLst/>
            <a:gdLst/>
            <a:ahLst/>
            <a:cxnLst/>
            <a:rect r="r" b="b" t="t" l="l"/>
            <a:pathLst>
              <a:path h="2741770" w="2751776">
                <a:moveTo>
                  <a:pt x="2751777" y="0"/>
                </a:moveTo>
                <a:lnTo>
                  <a:pt x="0" y="0"/>
                </a:lnTo>
                <a:lnTo>
                  <a:pt x="0" y="2741770"/>
                </a:lnTo>
                <a:lnTo>
                  <a:pt x="2751777" y="2741770"/>
                </a:lnTo>
                <a:lnTo>
                  <a:pt x="275177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955361" y="8191152"/>
            <a:ext cx="2751776" cy="2741770"/>
          </a:xfrm>
          <a:custGeom>
            <a:avLst/>
            <a:gdLst/>
            <a:ahLst/>
            <a:cxnLst/>
            <a:rect r="r" b="b" t="t" l="l"/>
            <a:pathLst>
              <a:path h="2741770" w="2751776">
                <a:moveTo>
                  <a:pt x="2751777" y="0"/>
                </a:moveTo>
                <a:lnTo>
                  <a:pt x="0" y="0"/>
                </a:lnTo>
                <a:lnTo>
                  <a:pt x="0" y="2741770"/>
                </a:lnTo>
                <a:lnTo>
                  <a:pt x="2751777" y="2741770"/>
                </a:lnTo>
                <a:lnTo>
                  <a:pt x="275177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3075389" y="9106466"/>
            <a:ext cx="24438779" cy="20925704"/>
          </a:xfrm>
          <a:custGeom>
            <a:avLst/>
            <a:gdLst/>
            <a:ahLst/>
            <a:cxnLst/>
            <a:rect r="r" b="b" t="t" l="l"/>
            <a:pathLst>
              <a:path h="20925704" w="24438779">
                <a:moveTo>
                  <a:pt x="24438778" y="0"/>
                </a:moveTo>
                <a:lnTo>
                  <a:pt x="0" y="0"/>
                </a:lnTo>
                <a:lnTo>
                  <a:pt x="0" y="20925705"/>
                </a:lnTo>
                <a:lnTo>
                  <a:pt x="24438778" y="20925705"/>
                </a:lnTo>
                <a:lnTo>
                  <a:pt x="24438778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820307"/>
            <a:ext cx="910248" cy="862460"/>
          </a:xfrm>
          <a:custGeom>
            <a:avLst/>
            <a:gdLst/>
            <a:ahLst/>
            <a:cxnLst/>
            <a:rect r="r" b="b" t="t" l="l"/>
            <a:pathLst>
              <a:path h="862460" w="910248">
                <a:moveTo>
                  <a:pt x="0" y="0"/>
                </a:moveTo>
                <a:lnTo>
                  <a:pt x="910248" y="0"/>
                </a:lnTo>
                <a:lnTo>
                  <a:pt x="910248" y="862459"/>
                </a:lnTo>
                <a:lnTo>
                  <a:pt x="0" y="86245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00000">
            <a:off x="-3191060" y="3191060"/>
            <a:ext cx="6802647" cy="420527"/>
          </a:xfrm>
          <a:custGeom>
            <a:avLst/>
            <a:gdLst/>
            <a:ahLst/>
            <a:cxnLst/>
            <a:rect r="r" b="b" t="t" l="l"/>
            <a:pathLst>
              <a:path h="420527" w="6802647">
                <a:moveTo>
                  <a:pt x="0" y="0"/>
                </a:moveTo>
                <a:lnTo>
                  <a:pt x="6802647" y="0"/>
                </a:lnTo>
                <a:lnTo>
                  <a:pt x="6802647" y="420527"/>
                </a:lnTo>
                <a:lnTo>
                  <a:pt x="0" y="42052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2529900">
            <a:off x="16275196" y="-2210779"/>
            <a:ext cx="2850742" cy="6478959"/>
          </a:xfrm>
          <a:custGeom>
            <a:avLst/>
            <a:gdLst/>
            <a:ahLst/>
            <a:cxnLst/>
            <a:rect r="r" b="b" t="t" l="l"/>
            <a:pathLst>
              <a:path h="6478959" w="2850742">
                <a:moveTo>
                  <a:pt x="0" y="0"/>
                </a:moveTo>
                <a:lnTo>
                  <a:pt x="2850741" y="0"/>
                </a:lnTo>
                <a:lnTo>
                  <a:pt x="2850741" y="6478958"/>
                </a:lnTo>
                <a:lnTo>
                  <a:pt x="0" y="647895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5051275" y="4579228"/>
            <a:ext cx="2835894" cy="2200871"/>
            <a:chOff x="0" y="0"/>
            <a:chExt cx="3781192" cy="2934494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2586309" y="0"/>
              <a:ext cx="1194883" cy="1194883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AEAEA"/>
              </a:solidFill>
              <a:ln w="19050" cap="sq">
                <a:solidFill>
                  <a:srgbClr val="000000"/>
                </a:solidFill>
                <a:prstDash val="sysDot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430"/>
                  </a:lnSpc>
                </a:pPr>
                <a:r>
                  <a:rPr lang="en-US" sz="1100">
                    <a:solidFill>
                      <a:srgbClr val="000000"/>
                    </a:solidFill>
                    <a:latin typeface="Bernoru UltraExpanded"/>
                    <a:ea typeface="Bernoru UltraExpanded"/>
                    <a:cs typeface="Bernoru UltraExpanded"/>
                    <a:sym typeface="Bernoru UltraExpanded"/>
                  </a:rPr>
                  <a:t>ST_1</a:t>
                </a:r>
              </a:p>
            </p:txBody>
          </p:sp>
        </p:grpSp>
        <p:sp>
          <p:nvSpPr>
            <p:cNvPr name="AutoShape 12" id="12"/>
            <p:cNvSpPr/>
            <p:nvPr/>
          </p:nvSpPr>
          <p:spPr>
            <a:xfrm flipV="true">
              <a:off x="17015" y="597441"/>
              <a:ext cx="2569294" cy="2318194"/>
            </a:xfrm>
            <a:prstGeom prst="line">
              <a:avLst/>
            </a:prstGeom>
            <a:ln cap="flat" w="50800">
              <a:solidFill>
                <a:srgbClr val="D02919"/>
              </a:solidFill>
              <a:prstDash val="solid"/>
              <a:headEnd type="none" len="sm" w="sm"/>
              <a:tailEnd type="triangle" len="med" w="lg"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5051036" y="5925382"/>
            <a:ext cx="2826934" cy="896162"/>
            <a:chOff x="0" y="0"/>
            <a:chExt cx="3769246" cy="1194883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2574363" y="0"/>
              <a:ext cx="1194883" cy="1194883"/>
              <a:chOff x="0" y="0"/>
              <a:chExt cx="812800" cy="8128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AEAEA"/>
              </a:solidFill>
              <a:ln w="19050" cap="sq">
                <a:solidFill>
                  <a:srgbClr val="000000"/>
                </a:solidFill>
                <a:prstDash val="sysDot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430"/>
                  </a:lnSpc>
                </a:pPr>
                <a:r>
                  <a:rPr lang="en-US" sz="1100">
                    <a:solidFill>
                      <a:srgbClr val="000000"/>
                    </a:solidFill>
                    <a:latin typeface="Bernoru UltraExpanded"/>
                    <a:ea typeface="Bernoru UltraExpanded"/>
                    <a:cs typeface="Bernoru UltraExpanded"/>
                    <a:sym typeface="Bernoru UltraExpanded"/>
                  </a:rPr>
                  <a:t>ST_2</a:t>
                </a:r>
              </a:p>
            </p:txBody>
          </p:sp>
        </p:grpSp>
        <p:sp>
          <p:nvSpPr>
            <p:cNvPr name="AutoShape 17" id="17"/>
            <p:cNvSpPr/>
            <p:nvPr/>
          </p:nvSpPr>
          <p:spPr>
            <a:xfrm flipV="true">
              <a:off x="5069" y="597441"/>
              <a:ext cx="2569294" cy="523322"/>
            </a:xfrm>
            <a:prstGeom prst="line">
              <a:avLst/>
            </a:prstGeom>
            <a:ln cap="flat" w="50800">
              <a:solidFill>
                <a:srgbClr val="D02919"/>
              </a:solidFill>
              <a:prstDash val="solid"/>
              <a:headEnd type="none" len="sm" w="sm"/>
              <a:tailEnd type="triangle" len="med" w="lg"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5051036" y="6752030"/>
            <a:ext cx="2836132" cy="2261076"/>
            <a:chOff x="0" y="0"/>
            <a:chExt cx="3781510" cy="3014768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2586627" y="1819885"/>
              <a:ext cx="1194883" cy="1194883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AEAEA"/>
              </a:solidFill>
              <a:ln w="19050" cap="sq">
                <a:solidFill>
                  <a:srgbClr val="000000"/>
                </a:solidFill>
                <a:prstDash val="sysDot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430"/>
                  </a:lnSpc>
                </a:pPr>
                <a:r>
                  <a:rPr lang="en-US" sz="1100">
                    <a:solidFill>
                      <a:srgbClr val="000000"/>
                    </a:solidFill>
                    <a:latin typeface="Bernoru UltraExpanded"/>
                    <a:ea typeface="Bernoru UltraExpanded"/>
                    <a:cs typeface="Bernoru UltraExpanded"/>
                    <a:sym typeface="Bernoru UltraExpanded"/>
                  </a:rPr>
                  <a:t>ST_N</a:t>
                </a:r>
              </a:p>
            </p:txBody>
          </p:sp>
        </p:grpSp>
        <p:sp>
          <p:nvSpPr>
            <p:cNvPr name="AutoShape 22" id="22"/>
            <p:cNvSpPr/>
            <p:nvPr/>
          </p:nvSpPr>
          <p:spPr>
            <a:xfrm>
              <a:off x="17334" y="18566"/>
              <a:ext cx="2569294" cy="2398761"/>
            </a:xfrm>
            <a:prstGeom prst="line">
              <a:avLst/>
            </a:prstGeom>
            <a:ln cap="flat" w="50800">
              <a:solidFill>
                <a:srgbClr val="D02919"/>
              </a:solidFill>
              <a:prstDash val="solid"/>
              <a:headEnd type="none" len="sm" w="sm"/>
              <a:tailEnd type="triangle" len="med" w="lg"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3382892" y="5925382"/>
            <a:ext cx="1681145" cy="1681145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EAEA"/>
            </a:solidFill>
            <a:ln w="19050" cap="sq">
              <a:solidFill>
                <a:srgbClr val="000000"/>
              </a:solidFill>
              <a:prstDash val="sysDot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0"/>
                </a:lnSpc>
              </a:pPr>
              <a:r>
                <a:rPr lang="en-US" sz="1400">
                  <a:solidFill>
                    <a:srgbClr val="000000"/>
                  </a:solidFill>
                  <a:latin typeface="Bernoru UltraExpanded"/>
                  <a:ea typeface="Bernoru UltraExpanded"/>
                  <a:cs typeface="Bernoru UltraExpanded"/>
                  <a:sym typeface="Bernoru UltraExpanded"/>
                </a:rPr>
                <a:t>TAREFA</a:t>
              </a:r>
            </a:p>
          </p:txBody>
        </p:sp>
      </p:grpSp>
      <p:sp>
        <p:nvSpPr>
          <p:cNvPr name="AutoShape 26" id="26"/>
          <p:cNvSpPr/>
          <p:nvPr/>
        </p:nvSpPr>
        <p:spPr>
          <a:xfrm>
            <a:off x="10794007" y="4991808"/>
            <a:ext cx="2576403" cy="0"/>
          </a:xfrm>
          <a:prstGeom prst="line">
            <a:avLst/>
          </a:prstGeom>
          <a:ln cap="flat" w="38100">
            <a:solidFill>
              <a:srgbClr val="D02919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7" id="27"/>
          <p:cNvSpPr/>
          <p:nvPr/>
        </p:nvSpPr>
        <p:spPr>
          <a:xfrm>
            <a:off x="10794007" y="6368530"/>
            <a:ext cx="2576403" cy="0"/>
          </a:xfrm>
          <a:prstGeom prst="line">
            <a:avLst/>
          </a:prstGeom>
          <a:ln cap="flat" w="38100">
            <a:solidFill>
              <a:srgbClr val="D02919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8" id="28"/>
          <p:cNvSpPr/>
          <p:nvPr/>
        </p:nvSpPr>
        <p:spPr>
          <a:xfrm>
            <a:off x="10794007" y="8540102"/>
            <a:ext cx="2576403" cy="0"/>
          </a:xfrm>
          <a:prstGeom prst="line">
            <a:avLst/>
          </a:prstGeom>
          <a:ln cap="flat" w="38100">
            <a:solidFill>
              <a:srgbClr val="D02919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9" id="29"/>
          <p:cNvGrpSpPr/>
          <p:nvPr/>
        </p:nvGrpSpPr>
        <p:grpSpPr>
          <a:xfrm rot="0">
            <a:off x="13665684" y="4480016"/>
            <a:ext cx="1239424" cy="4433878"/>
            <a:chOff x="0" y="0"/>
            <a:chExt cx="326433" cy="116777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26433" cy="1167770"/>
            </a:xfrm>
            <a:custGeom>
              <a:avLst/>
              <a:gdLst/>
              <a:ahLst/>
              <a:cxnLst/>
              <a:rect r="r" b="b" t="t" l="l"/>
              <a:pathLst>
                <a:path h="1167770" w="326433">
                  <a:moveTo>
                    <a:pt x="163216" y="0"/>
                  </a:moveTo>
                  <a:lnTo>
                    <a:pt x="163216" y="0"/>
                  </a:lnTo>
                  <a:cubicBezTo>
                    <a:pt x="206504" y="0"/>
                    <a:pt x="248019" y="17196"/>
                    <a:pt x="278628" y="47805"/>
                  </a:cubicBezTo>
                  <a:cubicBezTo>
                    <a:pt x="309237" y="78414"/>
                    <a:pt x="326433" y="119929"/>
                    <a:pt x="326433" y="163216"/>
                  </a:cubicBezTo>
                  <a:lnTo>
                    <a:pt x="326433" y="1004554"/>
                  </a:lnTo>
                  <a:cubicBezTo>
                    <a:pt x="326433" y="1047842"/>
                    <a:pt x="309237" y="1089356"/>
                    <a:pt x="278628" y="1119965"/>
                  </a:cubicBezTo>
                  <a:cubicBezTo>
                    <a:pt x="248019" y="1150574"/>
                    <a:pt x="206504" y="1167770"/>
                    <a:pt x="163216" y="1167770"/>
                  </a:cubicBezTo>
                  <a:lnTo>
                    <a:pt x="163216" y="1167770"/>
                  </a:lnTo>
                  <a:cubicBezTo>
                    <a:pt x="119929" y="1167770"/>
                    <a:pt x="78414" y="1150574"/>
                    <a:pt x="47805" y="1119965"/>
                  </a:cubicBezTo>
                  <a:cubicBezTo>
                    <a:pt x="17196" y="1089356"/>
                    <a:pt x="0" y="1047842"/>
                    <a:pt x="0" y="1004554"/>
                  </a:cubicBezTo>
                  <a:lnTo>
                    <a:pt x="0" y="163216"/>
                  </a:lnTo>
                  <a:cubicBezTo>
                    <a:pt x="0" y="119929"/>
                    <a:pt x="17196" y="78414"/>
                    <a:pt x="47805" y="47805"/>
                  </a:cubicBezTo>
                  <a:cubicBezTo>
                    <a:pt x="78414" y="17196"/>
                    <a:pt x="119929" y="0"/>
                    <a:pt x="163216" y="0"/>
                  </a:cubicBezTo>
                  <a:close/>
                </a:path>
              </a:pathLst>
            </a:custGeom>
            <a:solidFill>
              <a:srgbClr val="EAEAEA"/>
            </a:solidFill>
            <a:ln w="19050" cap="rnd">
              <a:solidFill>
                <a:srgbClr val="000000"/>
              </a:solidFill>
              <a:prstDash val="sysDot"/>
              <a:round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326433" cy="12153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45"/>
                </a:lnSpc>
              </a:pPr>
              <a:r>
                <a:rPr lang="en-US" sz="1500" spc="136">
                  <a:solidFill>
                    <a:srgbClr val="000000"/>
                  </a:solidFill>
                  <a:latin typeface="Bernoru UltraExpanded"/>
                  <a:ea typeface="Bernoru UltraExpanded"/>
                  <a:cs typeface="Bernoru UltraExpanded"/>
                  <a:sym typeface="Bernoru UltraExpanded"/>
                </a:rPr>
                <a:t>       </a:t>
              </a:r>
            </a:p>
            <a:p>
              <a:pPr algn="ctr">
                <a:lnSpc>
                  <a:spcPts val="2145"/>
                </a:lnSpc>
              </a:pPr>
              <a:r>
                <a:rPr lang="en-US" sz="1500" spc="136">
                  <a:solidFill>
                    <a:srgbClr val="000000"/>
                  </a:solidFill>
                  <a:latin typeface="Bernoru UltraExpanded"/>
                  <a:ea typeface="Bernoru UltraExpanded"/>
                  <a:cs typeface="Bernoru UltraExpanded"/>
                  <a:sym typeface="Bernoru UltraExpanded"/>
                </a:rPr>
                <a:t>       P</a:t>
              </a:r>
            </a:p>
            <a:p>
              <a:pPr algn="ctr">
                <a:lnSpc>
                  <a:spcPts val="2145"/>
                </a:lnSpc>
              </a:pPr>
              <a:r>
                <a:rPr lang="en-US" sz="1500" spc="136">
                  <a:solidFill>
                    <a:srgbClr val="000000"/>
                  </a:solidFill>
                  <a:latin typeface="Bernoru UltraExpanded"/>
                  <a:ea typeface="Bernoru UltraExpanded"/>
                  <a:cs typeface="Bernoru UltraExpanded"/>
                  <a:sym typeface="Bernoru UltraExpanded"/>
                </a:rPr>
                <a:t>       R</a:t>
              </a:r>
            </a:p>
            <a:p>
              <a:pPr algn="ctr">
                <a:lnSpc>
                  <a:spcPts val="2145"/>
                </a:lnSpc>
              </a:pPr>
              <a:r>
                <a:rPr lang="en-US" sz="1500" spc="136">
                  <a:solidFill>
                    <a:srgbClr val="000000"/>
                  </a:solidFill>
                  <a:latin typeface="Bernoru UltraExpanded"/>
                  <a:ea typeface="Bernoru UltraExpanded"/>
                  <a:cs typeface="Bernoru UltraExpanded"/>
                  <a:sym typeface="Bernoru UltraExpanded"/>
                </a:rPr>
                <a:t>R   O</a:t>
              </a:r>
            </a:p>
            <a:p>
              <a:pPr algn="ctr">
                <a:lnSpc>
                  <a:spcPts val="2145"/>
                </a:lnSpc>
              </a:pPr>
              <a:r>
                <a:rPr lang="en-US" sz="1500" spc="136">
                  <a:solidFill>
                    <a:srgbClr val="000000"/>
                  </a:solidFill>
                  <a:latin typeface="Bernoru UltraExpanded"/>
                  <a:ea typeface="Bernoru UltraExpanded"/>
                  <a:cs typeface="Bernoru UltraExpanded"/>
                  <a:sym typeface="Bernoru UltraExpanded"/>
                </a:rPr>
                <a:t>E   C</a:t>
              </a:r>
            </a:p>
            <a:p>
              <a:pPr algn="ctr">
                <a:lnSpc>
                  <a:spcPts val="2145"/>
                </a:lnSpc>
              </a:pPr>
              <a:r>
                <a:rPr lang="en-US" sz="1500" spc="136">
                  <a:solidFill>
                    <a:srgbClr val="000000"/>
                  </a:solidFill>
                  <a:latin typeface="Bernoru UltraExpanded"/>
                  <a:ea typeface="Bernoru UltraExpanded"/>
                  <a:cs typeface="Bernoru UltraExpanded"/>
                  <a:sym typeface="Bernoru UltraExpanded"/>
                </a:rPr>
                <a:t>S   E</a:t>
              </a:r>
            </a:p>
            <a:p>
              <a:pPr algn="ctr">
                <a:lnSpc>
                  <a:spcPts val="2145"/>
                </a:lnSpc>
              </a:pPr>
              <a:r>
                <a:rPr lang="en-US" sz="1500" spc="136">
                  <a:solidFill>
                    <a:srgbClr val="000000"/>
                  </a:solidFill>
                  <a:latin typeface="Bernoru UltraExpanded"/>
                  <a:ea typeface="Bernoru UltraExpanded"/>
                  <a:cs typeface="Bernoru UltraExpanded"/>
                  <a:sym typeface="Bernoru UltraExpanded"/>
                </a:rPr>
                <a:t>U   S</a:t>
              </a:r>
            </a:p>
            <a:p>
              <a:pPr algn="ctr">
                <a:lnSpc>
                  <a:spcPts val="2145"/>
                </a:lnSpc>
              </a:pPr>
              <a:r>
                <a:rPr lang="en-US" sz="1500" spc="136">
                  <a:solidFill>
                    <a:srgbClr val="000000"/>
                  </a:solidFill>
                  <a:latin typeface="Bernoru UltraExpanded"/>
                  <a:ea typeface="Bernoru UltraExpanded"/>
                  <a:cs typeface="Bernoru UltraExpanded"/>
                  <a:sym typeface="Bernoru UltraExpanded"/>
                </a:rPr>
                <a:t>L   S</a:t>
              </a:r>
            </a:p>
            <a:p>
              <a:pPr algn="ctr">
                <a:lnSpc>
                  <a:spcPts val="2145"/>
                </a:lnSpc>
              </a:pPr>
              <a:r>
                <a:rPr lang="en-US" sz="1500" spc="136">
                  <a:solidFill>
                    <a:srgbClr val="000000"/>
                  </a:solidFill>
                  <a:latin typeface="Bernoru UltraExpanded"/>
                  <a:ea typeface="Bernoru UltraExpanded"/>
                  <a:cs typeface="Bernoru UltraExpanded"/>
                  <a:sym typeface="Bernoru UltraExpanded"/>
                </a:rPr>
                <a:t>T   A</a:t>
              </a:r>
            </a:p>
            <a:p>
              <a:pPr algn="ctr">
                <a:lnSpc>
                  <a:spcPts val="2145"/>
                </a:lnSpc>
              </a:pPr>
              <a:r>
                <a:rPr lang="en-US" sz="1500" spc="136">
                  <a:solidFill>
                    <a:srgbClr val="000000"/>
                  </a:solidFill>
                  <a:latin typeface="Bernoru UltraExpanded"/>
                  <a:ea typeface="Bernoru UltraExpanded"/>
                  <a:cs typeface="Bernoru UltraExpanded"/>
                  <a:sym typeface="Bernoru UltraExpanded"/>
                </a:rPr>
                <a:t>A   M</a:t>
              </a:r>
            </a:p>
            <a:p>
              <a:pPr algn="ctr">
                <a:lnSpc>
                  <a:spcPts val="2145"/>
                </a:lnSpc>
              </a:pPr>
              <a:r>
                <a:rPr lang="en-US" sz="1500" spc="136">
                  <a:solidFill>
                    <a:srgbClr val="000000"/>
                  </a:solidFill>
                  <a:latin typeface="Bernoru UltraExpanded"/>
                  <a:ea typeface="Bernoru UltraExpanded"/>
                  <a:cs typeface="Bernoru UltraExpanded"/>
                  <a:sym typeface="Bernoru UltraExpanded"/>
                </a:rPr>
                <a:t>D   E</a:t>
              </a:r>
            </a:p>
            <a:p>
              <a:pPr algn="ctr">
                <a:lnSpc>
                  <a:spcPts val="2145"/>
                </a:lnSpc>
              </a:pPr>
              <a:r>
                <a:rPr lang="en-US" sz="1500" spc="136">
                  <a:solidFill>
                    <a:srgbClr val="000000"/>
                  </a:solidFill>
                  <a:latin typeface="Bernoru UltraExpanded"/>
                  <a:ea typeface="Bernoru UltraExpanded"/>
                  <a:cs typeface="Bernoru UltraExpanded"/>
                  <a:sym typeface="Bernoru UltraExpanded"/>
                </a:rPr>
                <a:t>O   N</a:t>
              </a:r>
            </a:p>
            <a:p>
              <a:pPr algn="ctr">
                <a:lnSpc>
                  <a:spcPts val="2145"/>
                </a:lnSpc>
              </a:pPr>
              <a:r>
                <a:rPr lang="en-US" sz="1500" spc="136">
                  <a:solidFill>
                    <a:srgbClr val="000000"/>
                  </a:solidFill>
                  <a:latin typeface="Bernoru UltraExpanded"/>
                  <a:ea typeface="Bernoru UltraExpanded"/>
                  <a:cs typeface="Bernoru UltraExpanded"/>
                  <a:sym typeface="Bernoru UltraExpanded"/>
                </a:rPr>
                <a:t>       T</a:t>
              </a:r>
            </a:p>
            <a:p>
              <a:pPr algn="ctr">
                <a:lnSpc>
                  <a:spcPts val="2145"/>
                </a:lnSpc>
              </a:pPr>
              <a:r>
                <a:rPr lang="en-US" sz="1500" spc="136">
                  <a:solidFill>
                    <a:srgbClr val="000000"/>
                  </a:solidFill>
                  <a:latin typeface="Bernoru UltraExpanded"/>
                  <a:ea typeface="Bernoru UltraExpanded"/>
                  <a:cs typeface="Bernoru UltraExpanded"/>
                  <a:sym typeface="Bernoru UltraExpanded"/>
                </a:rPr>
                <a:t>       O</a:t>
              </a:r>
            </a:p>
            <a:p>
              <a:pPr algn="ctr">
                <a:lnSpc>
                  <a:spcPts val="2145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2189550" y="1482167"/>
            <a:ext cx="13908900" cy="1784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256"/>
              </a:lnSpc>
            </a:pPr>
            <a:r>
              <a:rPr lang="en-US" sz="10966">
                <a:solidFill>
                  <a:srgbClr val="D02919"/>
                </a:solidFill>
                <a:latin typeface="Engravers' Old English BT"/>
                <a:ea typeface="Engravers' Old English BT"/>
                <a:cs typeface="Engravers' Old English BT"/>
                <a:sym typeface="Engravers' Old English BT"/>
              </a:rPr>
              <a:t>Princípios Básicos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015443" y="3325124"/>
            <a:ext cx="6257114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DIAGRAMA DO PROCESSO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385212" y="7037490"/>
            <a:ext cx="107752" cy="831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sz="4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ctr">
              <a:lnSpc>
                <a:spcPts val="2000"/>
              </a:lnSpc>
            </a:pPr>
            <a:r>
              <a:rPr lang="en-US" sz="4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ctr">
              <a:lnSpc>
                <a:spcPts val="2000"/>
              </a:lnSpc>
            </a:pPr>
            <a:r>
              <a:rPr lang="en-US" sz="4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8066921" y="4579228"/>
            <a:ext cx="2429574" cy="758826"/>
            <a:chOff x="0" y="0"/>
            <a:chExt cx="3239432" cy="1011768"/>
          </a:xfrm>
        </p:grpSpPr>
        <p:sp>
          <p:nvSpPr>
            <p:cNvPr name="TextBox 36" id="36"/>
            <p:cNvSpPr txBox="true"/>
            <p:nvPr/>
          </p:nvSpPr>
          <p:spPr>
            <a:xfrm rot="0">
              <a:off x="0" y="-104775"/>
              <a:ext cx="1129240" cy="11165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999"/>
                </a:lnSpc>
              </a:pPr>
              <a:r>
                <a:rPr lang="en-US" sz="4999">
                  <a:solidFill>
                    <a:srgbClr val="D02919"/>
                  </a:solidFill>
                  <a:latin typeface="Engravers' Old English BT"/>
                  <a:ea typeface="Engravers' Old English BT"/>
                  <a:cs typeface="Engravers' Old English BT"/>
                  <a:sym typeface="Engravers' Old English BT"/>
                </a:rPr>
                <a:t>}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378933" y="266972"/>
              <a:ext cx="2860499" cy="6007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780"/>
                </a:lnSpc>
              </a:pPr>
              <a:r>
                <a:rPr lang="en-US" sz="2700">
                  <a:solidFill>
                    <a:srgbClr val="D02919"/>
                  </a:solidFill>
                  <a:latin typeface="Celandine"/>
                  <a:ea typeface="Celandine"/>
                  <a:cs typeface="Celandine"/>
                  <a:sym typeface="Celandine"/>
                </a:rPr>
                <a:t>Un_Proces_1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8057723" y="5938129"/>
            <a:ext cx="2429574" cy="758826"/>
            <a:chOff x="0" y="0"/>
            <a:chExt cx="3239432" cy="1011768"/>
          </a:xfrm>
        </p:grpSpPr>
        <p:sp>
          <p:nvSpPr>
            <p:cNvPr name="TextBox 39" id="39"/>
            <p:cNvSpPr txBox="true"/>
            <p:nvPr/>
          </p:nvSpPr>
          <p:spPr>
            <a:xfrm rot="0">
              <a:off x="0" y="-104775"/>
              <a:ext cx="1129240" cy="11165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999"/>
                </a:lnSpc>
              </a:pPr>
              <a:r>
                <a:rPr lang="en-US" sz="4999">
                  <a:solidFill>
                    <a:srgbClr val="D02919"/>
                  </a:solidFill>
                  <a:latin typeface="Engravers' Old English BT"/>
                  <a:ea typeface="Engravers' Old English BT"/>
                  <a:cs typeface="Engravers' Old English BT"/>
                  <a:sym typeface="Engravers' Old English BT"/>
                </a:rPr>
                <a:t>}</a:t>
              </a:r>
            </a:p>
          </p:txBody>
        </p:sp>
        <p:sp>
          <p:nvSpPr>
            <p:cNvPr name="TextBox 40" id="40"/>
            <p:cNvSpPr txBox="true"/>
            <p:nvPr/>
          </p:nvSpPr>
          <p:spPr>
            <a:xfrm rot="0">
              <a:off x="378933" y="253154"/>
              <a:ext cx="2860499" cy="6007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780"/>
                </a:lnSpc>
              </a:pPr>
              <a:r>
                <a:rPr lang="en-US" sz="2700">
                  <a:solidFill>
                    <a:srgbClr val="D02919"/>
                  </a:solidFill>
                  <a:latin typeface="Celandine"/>
                  <a:ea typeface="Celandine"/>
                  <a:cs typeface="Celandine"/>
                  <a:sym typeface="Celandine"/>
                </a:rPr>
                <a:t>Un_Proces_2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8057723" y="8126493"/>
            <a:ext cx="2429574" cy="758826"/>
            <a:chOff x="0" y="0"/>
            <a:chExt cx="3239432" cy="1011768"/>
          </a:xfrm>
        </p:grpSpPr>
        <p:sp>
          <p:nvSpPr>
            <p:cNvPr name="TextBox 42" id="42"/>
            <p:cNvSpPr txBox="true"/>
            <p:nvPr/>
          </p:nvSpPr>
          <p:spPr>
            <a:xfrm rot="0">
              <a:off x="0" y="-104775"/>
              <a:ext cx="1129240" cy="11165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999"/>
                </a:lnSpc>
              </a:pPr>
              <a:r>
                <a:rPr lang="en-US" sz="4999">
                  <a:solidFill>
                    <a:srgbClr val="D02919"/>
                  </a:solidFill>
                  <a:latin typeface="Engravers' Old English BT"/>
                  <a:ea typeface="Engravers' Old English BT"/>
                  <a:cs typeface="Engravers' Old English BT"/>
                  <a:sym typeface="Engravers' Old English BT"/>
                </a:rPr>
                <a:t>}</a:t>
              </a:r>
            </a:p>
          </p:txBody>
        </p:sp>
        <p:sp>
          <p:nvSpPr>
            <p:cNvPr name="TextBox 43" id="43"/>
            <p:cNvSpPr txBox="true"/>
            <p:nvPr/>
          </p:nvSpPr>
          <p:spPr>
            <a:xfrm rot="0">
              <a:off x="378933" y="253154"/>
              <a:ext cx="2860499" cy="6007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780"/>
                </a:lnSpc>
              </a:pPr>
              <a:r>
                <a:rPr lang="en-US" sz="2700">
                  <a:solidFill>
                    <a:srgbClr val="D02919"/>
                  </a:solidFill>
                  <a:latin typeface="Celandine"/>
                  <a:ea typeface="Celandine"/>
                  <a:cs typeface="Celandine"/>
                  <a:sym typeface="Celandine"/>
                </a:rPr>
                <a:t>Un_Proces_n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7162541" y="8191152"/>
            <a:ext cx="2751776" cy="2741770"/>
          </a:xfrm>
          <a:custGeom>
            <a:avLst/>
            <a:gdLst/>
            <a:ahLst/>
            <a:cxnLst/>
            <a:rect r="r" b="b" t="t" l="l"/>
            <a:pathLst>
              <a:path h="2741770" w="2751776">
                <a:moveTo>
                  <a:pt x="2751776" y="0"/>
                </a:moveTo>
                <a:lnTo>
                  <a:pt x="0" y="0"/>
                </a:lnTo>
                <a:lnTo>
                  <a:pt x="0" y="2741770"/>
                </a:lnTo>
                <a:lnTo>
                  <a:pt x="2751776" y="2741770"/>
                </a:lnTo>
                <a:lnTo>
                  <a:pt x="275177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1375888" y="8191152"/>
            <a:ext cx="2751776" cy="2741770"/>
          </a:xfrm>
          <a:custGeom>
            <a:avLst/>
            <a:gdLst/>
            <a:ahLst/>
            <a:cxnLst/>
            <a:rect r="r" b="b" t="t" l="l"/>
            <a:pathLst>
              <a:path h="2741770" w="2751776">
                <a:moveTo>
                  <a:pt x="2751776" y="0"/>
                </a:moveTo>
                <a:lnTo>
                  <a:pt x="0" y="0"/>
                </a:lnTo>
                <a:lnTo>
                  <a:pt x="0" y="2741770"/>
                </a:lnTo>
                <a:lnTo>
                  <a:pt x="2751776" y="2741770"/>
                </a:lnTo>
                <a:lnTo>
                  <a:pt x="275177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3075389" y="9258300"/>
            <a:ext cx="24438779" cy="20925704"/>
          </a:xfrm>
          <a:custGeom>
            <a:avLst/>
            <a:gdLst/>
            <a:ahLst/>
            <a:cxnLst/>
            <a:rect r="r" b="b" t="t" l="l"/>
            <a:pathLst>
              <a:path h="20925704" w="24438779">
                <a:moveTo>
                  <a:pt x="24438778" y="0"/>
                </a:moveTo>
                <a:lnTo>
                  <a:pt x="0" y="0"/>
                </a:lnTo>
                <a:lnTo>
                  <a:pt x="0" y="20925704"/>
                </a:lnTo>
                <a:lnTo>
                  <a:pt x="24438778" y="20925704"/>
                </a:lnTo>
                <a:lnTo>
                  <a:pt x="24438778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820307"/>
            <a:ext cx="910248" cy="862460"/>
          </a:xfrm>
          <a:custGeom>
            <a:avLst/>
            <a:gdLst/>
            <a:ahLst/>
            <a:cxnLst/>
            <a:rect r="r" b="b" t="t" l="l"/>
            <a:pathLst>
              <a:path h="862460" w="910248">
                <a:moveTo>
                  <a:pt x="0" y="0"/>
                </a:moveTo>
                <a:lnTo>
                  <a:pt x="910248" y="0"/>
                </a:lnTo>
                <a:lnTo>
                  <a:pt x="910248" y="862459"/>
                </a:lnTo>
                <a:lnTo>
                  <a:pt x="0" y="86245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00000">
            <a:off x="-3191060" y="3191060"/>
            <a:ext cx="6802647" cy="420527"/>
          </a:xfrm>
          <a:custGeom>
            <a:avLst/>
            <a:gdLst/>
            <a:ahLst/>
            <a:cxnLst/>
            <a:rect r="r" b="b" t="t" l="l"/>
            <a:pathLst>
              <a:path h="420527" w="6802647">
                <a:moveTo>
                  <a:pt x="0" y="0"/>
                </a:moveTo>
                <a:lnTo>
                  <a:pt x="6802647" y="0"/>
                </a:lnTo>
                <a:lnTo>
                  <a:pt x="6802647" y="420527"/>
                </a:lnTo>
                <a:lnTo>
                  <a:pt x="0" y="42052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2529900">
            <a:off x="16275196" y="-2210779"/>
            <a:ext cx="2850742" cy="6478959"/>
          </a:xfrm>
          <a:custGeom>
            <a:avLst/>
            <a:gdLst/>
            <a:ahLst/>
            <a:cxnLst/>
            <a:rect r="r" b="b" t="t" l="l"/>
            <a:pathLst>
              <a:path h="6478959" w="2850742">
                <a:moveTo>
                  <a:pt x="0" y="0"/>
                </a:moveTo>
                <a:lnTo>
                  <a:pt x="2850741" y="0"/>
                </a:lnTo>
                <a:lnTo>
                  <a:pt x="2850741" y="6478958"/>
                </a:lnTo>
                <a:lnTo>
                  <a:pt x="0" y="647895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189550" y="1482167"/>
            <a:ext cx="13908900" cy="1784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256"/>
              </a:lnSpc>
            </a:pPr>
            <a:r>
              <a:rPr lang="en-US" sz="10966">
                <a:solidFill>
                  <a:srgbClr val="D02919"/>
                </a:solidFill>
                <a:latin typeface="Engravers' Old English BT"/>
                <a:ea typeface="Engravers' Old English BT"/>
                <a:cs typeface="Engravers' Old English BT"/>
                <a:sym typeface="Engravers' Old English BT"/>
              </a:rPr>
              <a:t>Princípios Básicos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09700" y="3796040"/>
            <a:ext cx="6257114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PARALELISMO DE DADOS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348419" y="3770007"/>
            <a:ext cx="6529881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PARALELISMO DE THREADS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09700" y="4510430"/>
            <a:ext cx="6257114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79"/>
              </a:lnSpc>
            </a:pPr>
            <a:r>
              <a:rPr lang="en-US" sz="2199">
                <a:solidFill>
                  <a:srgbClr val="FFFFFF"/>
                </a:solidFill>
                <a:latin typeface="Celandine"/>
                <a:ea typeface="Celandine"/>
                <a:cs typeface="Celandine"/>
                <a:sym typeface="Celandine"/>
              </a:rPr>
              <a:t>Data-Level Parallelism (DLP)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348419" y="4510430"/>
            <a:ext cx="6529881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79"/>
              </a:lnSpc>
            </a:pPr>
            <a:r>
              <a:rPr lang="en-US" sz="2199">
                <a:solidFill>
                  <a:srgbClr val="FFFFFF"/>
                </a:solidFill>
                <a:latin typeface="Celandine"/>
                <a:ea typeface="Celandine"/>
                <a:cs typeface="Celandine"/>
                <a:sym typeface="Celandine"/>
              </a:rPr>
              <a:t>Thread-Level Parallelism (TLP)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09700" y="5127832"/>
            <a:ext cx="6257114" cy="4434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en-US" sz="27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plicação da mesma operação a diferentes elementos de dados simultaneamente.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Exemplo: Um loo</a:t>
            </a:r>
            <a:r>
              <a:rPr lang="en-US" sz="27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 </a:t>
            </a:r>
            <a:r>
              <a:rPr lang="en-US" sz="27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que calcula a raiz quadrada de 1.000.000 de números. Cada cálculo de raiz quadrada é independente e pode ser feito em paralelo.</a:t>
            </a:r>
          </a:p>
          <a:p>
            <a:pPr algn="just">
              <a:lnSpc>
                <a:spcPts val="3919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0348419" y="5127832"/>
            <a:ext cx="6529881" cy="4434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Exe</a:t>
            </a:r>
            <a:r>
              <a:rPr lang="en-US" sz="27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cução de tarefas ou sequências de instruções completamente diferentes em paralelo.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Exemplo: O processador</a:t>
            </a:r>
            <a:r>
              <a:rPr lang="en-US" sz="27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executando simultaneamente a renderização da interface gráfica, a gravação de um arquivo em disco e o cálculo de um modelo estatístico.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44798" y="1649704"/>
            <a:ext cx="15039457" cy="1883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352"/>
              </a:lnSpc>
            </a:pPr>
            <a:r>
              <a:rPr lang="en-US" sz="10966">
                <a:solidFill>
                  <a:srgbClr val="D02919"/>
                </a:solidFill>
                <a:latin typeface="Engravers' Old English BT"/>
                <a:ea typeface="Engravers' Old English BT"/>
                <a:cs typeface="Engravers' Old English BT"/>
                <a:sym typeface="Engravers' Old English BT"/>
              </a:rPr>
              <a:t>Lei de Amdahl</a:t>
            </a:r>
          </a:p>
        </p:txBody>
      </p:sp>
      <p:sp>
        <p:nvSpPr>
          <p:cNvPr name="Freeform 3" id="3"/>
          <p:cNvSpPr/>
          <p:nvPr/>
        </p:nvSpPr>
        <p:spPr>
          <a:xfrm flipH="true" flipV="false" rot="0">
            <a:off x="0" y="8087271"/>
            <a:ext cx="2751776" cy="2741770"/>
          </a:xfrm>
          <a:custGeom>
            <a:avLst/>
            <a:gdLst/>
            <a:ahLst/>
            <a:cxnLst/>
            <a:rect r="r" b="b" t="t" l="l"/>
            <a:pathLst>
              <a:path h="2741770" w="2751776">
                <a:moveTo>
                  <a:pt x="2751776" y="0"/>
                </a:moveTo>
                <a:lnTo>
                  <a:pt x="0" y="0"/>
                </a:lnTo>
                <a:lnTo>
                  <a:pt x="0" y="2741770"/>
                </a:lnTo>
                <a:lnTo>
                  <a:pt x="2751776" y="2741770"/>
                </a:lnTo>
                <a:lnTo>
                  <a:pt x="275177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3076866" y="8411121"/>
            <a:ext cx="24438779" cy="20925704"/>
          </a:xfrm>
          <a:custGeom>
            <a:avLst/>
            <a:gdLst/>
            <a:ahLst/>
            <a:cxnLst/>
            <a:rect r="r" b="b" t="t" l="l"/>
            <a:pathLst>
              <a:path h="20925704" w="24438779">
                <a:moveTo>
                  <a:pt x="24438779" y="0"/>
                </a:moveTo>
                <a:lnTo>
                  <a:pt x="0" y="0"/>
                </a:lnTo>
                <a:lnTo>
                  <a:pt x="0" y="20925705"/>
                </a:lnTo>
                <a:lnTo>
                  <a:pt x="24438779" y="20925705"/>
                </a:lnTo>
                <a:lnTo>
                  <a:pt x="24438779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121651" y="1148339"/>
            <a:ext cx="2137649" cy="2025422"/>
          </a:xfrm>
          <a:custGeom>
            <a:avLst/>
            <a:gdLst/>
            <a:ahLst/>
            <a:cxnLst/>
            <a:rect r="r" b="b" t="t" l="l"/>
            <a:pathLst>
              <a:path h="2025422" w="2137649">
                <a:moveTo>
                  <a:pt x="0" y="0"/>
                </a:moveTo>
                <a:lnTo>
                  <a:pt x="2137649" y="0"/>
                </a:lnTo>
                <a:lnTo>
                  <a:pt x="2137649" y="2025422"/>
                </a:lnTo>
                <a:lnTo>
                  <a:pt x="0" y="202542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00000">
            <a:off x="14676413" y="3191060"/>
            <a:ext cx="6802647" cy="420527"/>
          </a:xfrm>
          <a:custGeom>
            <a:avLst/>
            <a:gdLst/>
            <a:ahLst/>
            <a:cxnLst/>
            <a:rect r="r" b="b" t="t" l="l"/>
            <a:pathLst>
              <a:path h="420527" w="6802647">
                <a:moveTo>
                  <a:pt x="0" y="0"/>
                </a:moveTo>
                <a:lnTo>
                  <a:pt x="6802647" y="0"/>
                </a:lnTo>
                <a:lnTo>
                  <a:pt x="6802647" y="420527"/>
                </a:lnTo>
                <a:lnTo>
                  <a:pt x="0" y="42052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8555637">
            <a:off x="-396671" y="-2681982"/>
            <a:ext cx="2850742" cy="6478959"/>
          </a:xfrm>
          <a:custGeom>
            <a:avLst/>
            <a:gdLst/>
            <a:ahLst/>
            <a:cxnLst/>
            <a:rect r="r" b="b" t="t" l="l"/>
            <a:pathLst>
              <a:path h="6478959" w="2850742">
                <a:moveTo>
                  <a:pt x="0" y="0"/>
                </a:moveTo>
                <a:lnTo>
                  <a:pt x="2850742" y="0"/>
                </a:lnTo>
                <a:lnTo>
                  <a:pt x="2850742" y="6478959"/>
                </a:lnTo>
                <a:lnTo>
                  <a:pt x="0" y="647895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391665" y="3820669"/>
            <a:ext cx="13504670" cy="1462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D02919"/>
                </a:solidFill>
                <a:latin typeface="Montserrat"/>
                <a:ea typeface="Montserrat"/>
                <a:cs typeface="Montserrat"/>
                <a:sym typeface="Montserrat"/>
              </a:rPr>
              <a:t>D</a:t>
            </a:r>
            <a:r>
              <a:rPr lang="en-US" sz="2799">
                <a:solidFill>
                  <a:srgbClr val="D02919"/>
                </a:solidFill>
                <a:latin typeface="Montserrat"/>
                <a:ea typeface="Montserrat"/>
                <a:cs typeface="Montserrat"/>
                <a:sym typeface="Montserrat"/>
              </a:rPr>
              <a:t>efine o limite teórico de aceleração (</a:t>
            </a:r>
            <a:r>
              <a:rPr lang="en-US" sz="2799" i="true">
                <a:solidFill>
                  <a:srgbClr val="D02919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S</a:t>
            </a:r>
            <a:r>
              <a:rPr lang="en-US" sz="2799">
                <a:solidFill>
                  <a:srgbClr val="D02919"/>
                </a:solidFill>
                <a:latin typeface="Montserrat"/>
                <a:ea typeface="Montserrat"/>
                <a:cs typeface="Montserrat"/>
                <a:sym typeface="Montserrat"/>
              </a:rPr>
              <a:t>) que pode ser alcançado ao paralelizar um programa. A aceleração é limitada pela porção de código que não pode ser paralelizada (a porção sequencial, </a:t>
            </a:r>
            <a:r>
              <a:rPr lang="en-US" sz="2799" i="true">
                <a:solidFill>
                  <a:srgbClr val="D02919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1-P</a:t>
            </a:r>
            <a:r>
              <a:rPr lang="en-US" sz="2799">
                <a:solidFill>
                  <a:srgbClr val="D02919"/>
                </a:solidFill>
                <a:latin typeface="Montserrat"/>
                <a:ea typeface="Montserrat"/>
                <a:cs typeface="Montserrat"/>
                <a:sym typeface="Montserrat"/>
              </a:rPr>
              <a:t>).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91665" y="7492687"/>
            <a:ext cx="13504670" cy="967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D02919"/>
                </a:solidFill>
                <a:latin typeface="Montserrat"/>
                <a:ea typeface="Montserrat"/>
                <a:cs typeface="Montserrat"/>
                <a:sym typeface="Montserrat"/>
              </a:rPr>
              <a:t>Onde </a:t>
            </a:r>
            <a:r>
              <a:rPr lang="en-US" sz="2799" i="true">
                <a:solidFill>
                  <a:srgbClr val="D02919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P</a:t>
            </a:r>
            <a:r>
              <a:rPr lang="en-US" sz="2799">
                <a:solidFill>
                  <a:srgbClr val="D02919"/>
                </a:solidFill>
                <a:latin typeface="Montserrat"/>
                <a:ea typeface="Montserrat"/>
                <a:cs typeface="Montserrat"/>
                <a:sym typeface="Montserrat"/>
              </a:rPr>
              <a:t> é a fração do código que pode ser paralelizada e </a:t>
            </a:r>
            <a:r>
              <a:rPr lang="en-US" sz="2799" i="true">
                <a:solidFill>
                  <a:srgbClr val="D02919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Sp</a:t>
            </a:r>
            <a:r>
              <a:rPr lang="en-US" sz="2799">
                <a:solidFill>
                  <a:srgbClr val="D02919"/>
                </a:solidFill>
                <a:latin typeface="Montserrat"/>
                <a:ea typeface="Montserrat"/>
                <a:cs typeface="Montserrat"/>
                <a:sym typeface="Montserrat"/>
              </a:rPr>
              <a:t> é a aceleração potencial da parte paralela (geralmente, o número de processadores).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225691" y="5554842"/>
            <a:ext cx="5836618" cy="1247806"/>
            <a:chOff x="0" y="0"/>
            <a:chExt cx="7782158" cy="1663741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269256"/>
              <a:ext cx="2003929" cy="9038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739"/>
                </a:lnSpc>
              </a:pPr>
              <a:r>
                <a:rPr lang="en-US" b="true" sz="4099" i="true">
                  <a:solidFill>
                    <a:srgbClr val="D02919"/>
                  </a:solidFill>
                  <a:latin typeface="Montserrat Bold Italics"/>
                  <a:ea typeface="Montserrat Bold Italics"/>
                  <a:cs typeface="Montserrat Bold Italics"/>
                  <a:sym typeface="Montserrat Bold Italics"/>
                </a:rPr>
                <a:t>S   =  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3883802" y="-76200"/>
              <a:ext cx="2003929" cy="8354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304"/>
                </a:lnSpc>
              </a:pPr>
              <a:r>
                <a:rPr lang="en-US" b="true" sz="3789" i="true">
                  <a:solidFill>
                    <a:srgbClr val="D02919"/>
                  </a:solidFill>
                  <a:latin typeface="Montserrat Bold Italics"/>
                  <a:ea typeface="Montserrat Bold Italics"/>
                  <a:cs typeface="Montserrat Bold Italics"/>
                  <a:sym typeface="Montserrat Bold Italics"/>
                </a:rPr>
                <a:t>1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2234902" y="828250"/>
              <a:ext cx="5301728" cy="8354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304"/>
                </a:lnSpc>
              </a:pPr>
              <a:r>
                <a:rPr lang="en-US" b="true" sz="3789" i="true">
                  <a:solidFill>
                    <a:srgbClr val="D02919"/>
                  </a:solidFill>
                  <a:latin typeface="Montserrat Bold Italics"/>
                  <a:ea typeface="Montserrat Bold Italics"/>
                  <a:cs typeface="Montserrat Bold Italics"/>
                  <a:sym typeface="Montserrat Bold Italics"/>
                </a:rPr>
                <a:t>(</a:t>
              </a:r>
              <a:r>
                <a:rPr lang="en-US" b="true" sz="3789" i="true">
                  <a:solidFill>
                    <a:srgbClr val="D02919"/>
                  </a:solidFill>
                  <a:latin typeface="Montserrat Bold Italics"/>
                  <a:ea typeface="Montserrat Bold Italics"/>
                  <a:cs typeface="Montserrat Bold Italics"/>
                  <a:sym typeface="Montserrat Bold Italics"/>
                </a:rPr>
                <a:t>1 - P)   +   P / Sp</a:t>
              </a:r>
            </a:p>
          </p:txBody>
        </p:sp>
        <p:sp>
          <p:nvSpPr>
            <p:cNvPr name="AutoShape 14" id="14"/>
            <p:cNvSpPr/>
            <p:nvPr/>
          </p:nvSpPr>
          <p:spPr>
            <a:xfrm flipV="true">
              <a:off x="2003929" y="719841"/>
              <a:ext cx="5777959" cy="39450"/>
            </a:xfrm>
            <a:prstGeom prst="line">
              <a:avLst/>
            </a:prstGeom>
            <a:ln cap="flat" w="78899">
              <a:solidFill>
                <a:srgbClr val="D02919"/>
              </a:solidFill>
              <a:prstDash val="solid"/>
              <a:headEnd type="none" len="sm" w="sm"/>
              <a:tailEnd type="none" len="sm" w="sm"/>
            </a:ln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44798" y="1649704"/>
            <a:ext cx="15039457" cy="1883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352"/>
              </a:lnSpc>
            </a:pPr>
            <a:r>
              <a:rPr lang="en-US" sz="10966">
                <a:solidFill>
                  <a:srgbClr val="D02919"/>
                </a:solidFill>
                <a:latin typeface="Engravers' Old English BT"/>
                <a:ea typeface="Engravers' Old English BT"/>
                <a:cs typeface="Engravers' Old English BT"/>
                <a:sym typeface="Engravers' Old English BT"/>
              </a:rPr>
              <a:t>Lei de Amdahl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098291" y="3482285"/>
            <a:ext cx="4132471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500">
                <a:solidFill>
                  <a:srgbClr val="D02919"/>
                </a:solidFill>
                <a:latin typeface="Montserrat"/>
                <a:ea typeface="Montserrat"/>
                <a:cs typeface="Montserrat"/>
                <a:sym typeface="Montserrat"/>
              </a:rPr>
              <a:t>EXEMPLO</a:t>
            </a:r>
          </a:p>
        </p:txBody>
      </p:sp>
      <p:sp>
        <p:nvSpPr>
          <p:cNvPr name="Freeform 4" id="4"/>
          <p:cNvSpPr/>
          <p:nvPr/>
        </p:nvSpPr>
        <p:spPr>
          <a:xfrm flipH="true" flipV="false" rot="0">
            <a:off x="-104664" y="8916115"/>
            <a:ext cx="2751776" cy="2741770"/>
          </a:xfrm>
          <a:custGeom>
            <a:avLst/>
            <a:gdLst/>
            <a:ahLst/>
            <a:cxnLst/>
            <a:rect r="r" b="b" t="t" l="l"/>
            <a:pathLst>
              <a:path h="2741770" w="2751776">
                <a:moveTo>
                  <a:pt x="2751776" y="0"/>
                </a:moveTo>
                <a:lnTo>
                  <a:pt x="0" y="0"/>
                </a:lnTo>
                <a:lnTo>
                  <a:pt x="0" y="2741770"/>
                </a:lnTo>
                <a:lnTo>
                  <a:pt x="2751776" y="2741770"/>
                </a:lnTo>
                <a:lnTo>
                  <a:pt x="275177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421182" y="4291910"/>
            <a:ext cx="13468041" cy="1957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D02919"/>
                </a:solidFill>
                <a:latin typeface="Montserrat"/>
                <a:ea typeface="Montserrat"/>
                <a:cs typeface="Montserrat"/>
                <a:sym typeface="Montserrat"/>
              </a:rPr>
              <a:t>Suponhamos que temos um programa com 10% do código inerentemente sequencial (</a:t>
            </a:r>
            <a:r>
              <a:rPr lang="en-US" sz="2799" i="true">
                <a:solidFill>
                  <a:srgbClr val="D02919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1-P = 0.1</a:t>
            </a:r>
            <a:r>
              <a:rPr lang="en-US" sz="2799">
                <a:solidFill>
                  <a:srgbClr val="D02919"/>
                </a:solidFill>
                <a:latin typeface="Montserrat"/>
                <a:ea typeface="Montserrat"/>
                <a:cs typeface="Montserrat"/>
                <a:sym typeface="Montserrat"/>
              </a:rPr>
              <a:t>) para ser processado por infinitos processadores (</a:t>
            </a:r>
            <a:r>
              <a:rPr lang="en-US" sz="2799" i="true">
                <a:solidFill>
                  <a:srgbClr val="D02919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Sp = ∞</a:t>
            </a:r>
            <a:r>
              <a:rPr lang="en-US" sz="2799">
                <a:solidFill>
                  <a:srgbClr val="D02919"/>
                </a:solidFill>
                <a:latin typeface="Montserrat"/>
                <a:ea typeface="Montserrat"/>
                <a:cs typeface="Montserrat"/>
                <a:sym typeface="Montserrat"/>
              </a:rPr>
              <a:t>). Utilizando a Lei de Amdahl, calculamos o limite da aceleração da seguinte maneira:</a:t>
            </a:r>
          </a:p>
        </p:txBody>
      </p:sp>
      <p:sp>
        <p:nvSpPr>
          <p:cNvPr name="Freeform 6" id="6"/>
          <p:cNvSpPr/>
          <p:nvPr/>
        </p:nvSpPr>
        <p:spPr>
          <a:xfrm flipH="true" flipV="false" rot="0">
            <a:off x="-3075389" y="9113868"/>
            <a:ext cx="24438779" cy="20925704"/>
          </a:xfrm>
          <a:custGeom>
            <a:avLst/>
            <a:gdLst/>
            <a:ahLst/>
            <a:cxnLst/>
            <a:rect r="r" b="b" t="t" l="l"/>
            <a:pathLst>
              <a:path h="20925704" w="24438779">
                <a:moveTo>
                  <a:pt x="24438778" y="0"/>
                </a:moveTo>
                <a:lnTo>
                  <a:pt x="0" y="0"/>
                </a:lnTo>
                <a:lnTo>
                  <a:pt x="0" y="20925704"/>
                </a:lnTo>
                <a:lnTo>
                  <a:pt x="24438778" y="20925704"/>
                </a:lnTo>
                <a:lnTo>
                  <a:pt x="24438778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121651" y="1148339"/>
            <a:ext cx="2137649" cy="2025422"/>
          </a:xfrm>
          <a:custGeom>
            <a:avLst/>
            <a:gdLst/>
            <a:ahLst/>
            <a:cxnLst/>
            <a:rect r="r" b="b" t="t" l="l"/>
            <a:pathLst>
              <a:path h="2025422" w="2137649">
                <a:moveTo>
                  <a:pt x="0" y="0"/>
                </a:moveTo>
                <a:lnTo>
                  <a:pt x="2137649" y="0"/>
                </a:lnTo>
                <a:lnTo>
                  <a:pt x="2137649" y="2025422"/>
                </a:lnTo>
                <a:lnTo>
                  <a:pt x="0" y="202542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5400000">
            <a:off x="14676413" y="3191060"/>
            <a:ext cx="6802647" cy="420527"/>
          </a:xfrm>
          <a:custGeom>
            <a:avLst/>
            <a:gdLst/>
            <a:ahLst/>
            <a:cxnLst/>
            <a:rect r="r" b="b" t="t" l="l"/>
            <a:pathLst>
              <a:path h="420527" w="6802647">
                <a:moveTo>
                  <a:pt x="0" y="0"/>
                </a:moveTo>
                <a:lnTo>
                  <a:pt x="6802647" y="0"/>
                </a:lnTo>
                <a:lnTo>
                  <a:pt x="6802647" y="420527"/>
                </a:lnTo>
                <a:lnTo>
                  <a:pt x="0" y="42052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8555637">
            <a:off x="-396671" y="-2681982"/>
            <a:ext cx="2850742" cy="6478959"/>
          </a:xfrm>
          <a:custGeom>
            <a:avLst/>
            <a:gdLst/>
            <a:ahLst/>
            <a:cxnLst/>
            <a:rect r="r" b="b" t="t" l="l"/>
            <a:pathLst>
              <a:path h="6478959" w="2850742">
                <a:moveTo>
                  <a:pt x="0" y="0"/>
                </a:moveTo>
                <a:lnTo>
                  <a:pt x="2850742" y="0"/>
                </a:lnTo>
                <a:lnTo>
                  <a:pt x="2850742" y="6478959"/>
                </a:lnTo>
                <a:lnTo>
                  <a:pt x="0" y="647895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3834645" y="6297240"/>
            <a:ext cx="10641116" cy="803409"/>
            <a:chOff x="0" y="0"/>
            <a:chExt cx="14188155" cy="1071213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174799"/>
              <a:ext cx="1259886" cy="5805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95"/>
                </a:lnSpc>
              </a:pPr>
              <a:r>
                <a:rPr lang="en-US" b="true" sz="2639" i="true">
                  <a:solidFill>
                    <a:srgbClr val="D02919"/>
                  </a:solidFill>
                  <a:latin typeface="Montserrat Bold Italics"/>
                  <a:ea typeface="Montserrat Bold Italics"/>
                  <a:cs typeface="Montserrat Bold Italics"/>
                  <a:sym typeface="Montserrat Bold Italics"/>
                </a:rPr>
                <a:t>S   =  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2441776" y="-47625"/>
              <a:ext cx="1259886" cy="5365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15"/>
                </a:lnSpc>
              </a:pPr>
              <a:r>
                <a:rPr lang="en-US" b="true" sz="2439" i="true">
                  <a:solidFill>
                    <a:srgbClr val="D02919"/>
                  </a:solidFill>
                  <a:latin typeface="Montserrat Bold Italics"/>
                  <a:ea typeface="Montserrat Bold Italics"/>
                  <a:cs typeface="Montserrat Bold Italics"/>
                  <a:sym typeface="Montserrat Bold Italics"/>
                </a:rPr>
                <a:t>1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1405101" y="534712"/>
              <a:ext cx="3333238" cy="5365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15"/>
                </a:lnSpc>
              </a:pPr>
              <a:r>
                <a:rPr lang="en-US" b="true" sz="2439" i="true">
                  <a:solidFill>
                    <a:srgbClr val="D02919"/>
                  </a:solidFill>
                  <a:latin typeface="Montserrat Bold Italics"/>
                  <a:ea typeface="Montserrat Bold Italics"/>
                  <a:cs typeface="Montserrat Bold Italics"/>
                  <a:sym typeface="Montserrat Bold Italics"/>
                </a:rPr>
                <a:t>0.1   +   0.9 / ∞</a:t>
              </a:r>
            </a:p>
          </p:txBody>
        </p:sp>
        <p:sp>
          <p:nvSpPr>
            <p:cNvPr name="AutoShape 14" id="14"/>
            <p:cNvSpPr/>
            <p:nvPr/>
          </p:nvSpPr>
          <p:spPr>
            <a:xfrm flipV="true">
              <a:off x="1259886" y="463476"/>
              <a:ext cx="3632648" cy="25400"/>
            </a:xfrm>
            <a:prstGeom prst="line">
              <a:avLst/>
            </a:prstGeom>
            <a:ln cap="flat" w="50800">
              <a:solidFill>
                <a:srgbClr val="D02919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5" id="15"/>
            <p:cNvSpPr txBox="true"/>
            <p:nvPr/>
          </p:nvSpPr>
          <p:spPr>
            <a:xfrm rot="0">
              <a:off x="4854611" y="174799"/>
              <a:ext cx="1259886" cy="5805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95"/>
                </a:lnSpc>
              </a:pPr>
              <a:r>
                <a:rPr lang="en-US" b="true" sz="2639" i="true">
                  <a:solidFill>
                    <a:srgbClr val="D02919"/>
                  </a:solidFill>
                  <a:latin typeface="Montserrat Bold Italics"/>
                  <a:ea typeface="Montserrat Bold Italics"/>
                  <a:cs typeface="Montserrat Bold Italics"/>
                  <a:sym typeface="Montserrat Bold Italics"/>
                </a:rPr>
                <a:t>=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7296388" y="-47625"/>
              <a:ext cx="1259886" cy="5365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15"/>
                </a:lnSpc>
              </a:pPr>
              <a:r>
                <a:rPr lang="en-US" b="true" sz="2439" i="true">
                  <a:solidFill>
                    <a:srgbClr val="D02919"/>
                  </a:solidFill>
                  <a:latin typeface="Montserrat Bold Italics"/>
                  <a:ea typeface="Montserrat Bold Italics"/>
                  <a:cs typeface="Montserrat Bold Italics"/>
                  <a:sym typeface="Montserrat Bold Italics"/>
                </a:rPr>
                <a:t>1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6259712" y="534712"/>
              <a:ext cx="3333238" cy="5365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15"/>
                </a:lnSpc>
              </a:pPr>
              <a:r>
                <a:rPr lang="en-US" b="true" sz="2439" i="true">
                  <a:solidFill>
                    <a:srgbClr val="D02919"/>
                  </a:solidFill>
                  <a:latin typeface="Montserrat Bold Italics"/>
                  <a:ea typeface="Montserrat Bold Italics"/>
                  <a:cs typeface="Montserrat Bold Italics"/>
                  <a:sym typeface="Montserrat Bold Italics"/>
                </a:rPr>
                <a:t>0.1   +   0</a:t>
              </a:r>
            </a:p>
          </p:txBody>
        </p:sp>
        <p:sp>
          <p:nvSpPr>
            <p:cNvPr name="AutoShape 18" id="18"/>
            <p:cNvSpPr/>
            <p:nvPr/>
          </p:nvSpPr>
          <p:spPr>
            <a:xfrm flipV="true">
              <a:off x="6114497" y="463476"/>
              <a:ext cx="3632648" cy="25400"/>
            </a:xfrm>
            <a:prstGeom prst="line">
              <a:avLst/>
            </a:prstGeom>
            <a:ln cap="flat" w="50800">
              <a:solidFill>
                <a:srgbClr val="D02919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9" id="19"/>
            <p:cNvSpPr txBox="true"/>
            <p:nvPr/>
          </p:nvSpPr>
          <p:spPr>
            <a:xfrm rot="0">
              <a:off x="9786058" y="174799"/>
              <a:ext cx="1259886" cy="5805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95"/>
                </a:lnSpc>
              </a:pPr>
              <a:r>
                <a:rPr lang="en-US" b="true" sz="2639" i="true">
                  <a:solidFill>
                    <a:srgbClr val="D02919"/>
                  </a:solidFill>
                  <a:latin typeface="Montserrat Bold Italics"/>
                  <a:ea typeface="Montserrat Bold Italics"/>
                  <a:cs typeface="Montserrat Bold Italics"/>
                  <a:sym typeface="Montserrat Bold Italics"/>
                </a:rPr>
                <a:t>=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10830044" y="-47625"/>
              <a:ext cx="1259886" cy="5365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15"/>
                </a:lnSpc>
              </a:pPr>
              <a:r>
                <a:rPr lang="en-US" b="true" sz="2439" i="true">
                  <a:solidFill>
                    <a:srgbClr val="D02919"/>
                  </a:solidFill>
                  <a:latin typeface="Montserrat Bold Italics"/>
                  <a:ea typeface="Montserrat Bold Italics"/>
                  <a:cs typeface="Montserrat Bold Italics"/>
                  <a:sym typeface="Montserrat Bold Italics"/>
                </a:rPr>
                <a:t>1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10909788" y="534712"/>
              <a:ext cx="1100397" cy="5365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15"/>
                </a:lnSpc>
              </a:pPr>
              <a:r>
                <a:rPr lang="en-US" b="true" sz="2439" i="true">
                  <a:solidFill>
                    <a:srgbClr val="D02919"/>
                  </a:solidFill>
                  <a:latin typeface="Montserrat Bold Italics"/>
                  <a:ea typeface="Montserrat Bold Italics"/>
                  <a:cs typeface="Montserrat Bold Italics"/>
                  <a:sym typeface="Montserrat Bold Italics"/>
                </a:rPr>
                <a:t>0.1</a:t>
              </a:r>
            </a:p>
          </p:txBody>
        </p:sp>
        <p:sp>
          <p:nvSpPr>
            <p:cNvPr name="AutoShape 22" id="22"/>
            <p:cNvSpPr/>
            <p:nvPr/>
          </p:nvSpPr>
          <p:spPr>
            <a:xfrm>
              <a:off x="11045944" y="488876"/>
              <a:ext cx="862913" cy="0"/>
            </a:xfrm>
            <a:prstGeom prst="line">
              <a:avLst/>
            </a:prstGeom>
            <a:ln cap="flat" w="50800">
              <a:solidFill>
                <a:srgbClr val="D02919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23" id="23"/>
            <p:cNvSpPr txBox="true"/>
            <p:nvPr/>
          </p:nvSpPr>
          <p:spPr>
            <a:xfrm rot="0">
              <a:off x="11858883" y="196813"/>
              <a:ext cx="1259886" cy="5805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95"/>
                </a:lnSpc>
              </a:pPr>
              <a:r>
                <a:rPr lang="en-US" b="true" sz="2639" i="true">
                  <a:solidFill>
                    <a:srgbClr val="D02919"/>
                  </a:solidFill>
                  <a:latin typeface="Montserrat Bold Italics"/>
                  <a:ea typeface="Montserrat Bold Italics"/>
                  <a:cs typeface="Montserrat Bold Italics"/>
                  <a:sym typeface="Montserrat Bold Italics"/>
                </a:rPr>
                <a:t>=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12928269" y="196813"/>
              <a:ext cx="1259886" cy="5365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15"/>
                </a:lnSpc>
              </a:pPr>
              <a:r>
                <a:rPr lang="en-US" b="true" sz="2439" i="true">
                  <a:solidFill>
                    <a:srgbClr val="D02919"/>
                  </a:solidFill>
                  <a:latin typeface="Montserrat Bold Italics"/>
                  <a:ea typeface="Montserrat Bold Italics"/>
                  <a:cs typeface="Montserrat Bold Italics"/>
                  <a:sym typeface="Montserrat Bold Italics"/>
                </a:rPr>
                <a:t>10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2409979" y="7156163"/>
            <a:ext cx="13468041" cy="1957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D02919"/>
                </a:solidFill>
                <a:latin typeface="Montserrat"/>
                <a:ea typeface="Montserrat"/>
                <a:cs typeface="Montserrat"/>
                <a:sym typeface="Montserrat"/>
              </a:rPr>
              <a:t>Dessa forma, observamos que o ganho máximo de speedup que pode ser alcançado é limitado a 10 vezes, mesmo com infinitos processadores.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D02919"/>
                </a:solidFill>
                <a:latin typeface="Montserrat"/>
                <a:ea typeface="Montserrat"/>
                <a:cs typeface="Montserrat"/>
                <a:sym typeface="Montserrat"/>
              </a:rPr>
              <a:t>Isso reforça que a limitação de velocidade de processamento não decorre mais de hardwares, mas sim da estrutura geral de softwares.</a:t>
            </a:r>
          </a:p>
        </p:txBody>
      </p:sp>
    </p:spTree>
  </p:cSld>
  <p:clrMapOvr>
    <a:masterClrMapping/>
  </p:clrMapOvr>
  <p:transition spd="fast">
    <p:cover dir="rd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02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42191" y="1911654"/>
            <a:ext cx="11803618" cy="167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159"/>
              </a:lnSpc>
            </a:pPr>
            <a:r>
              <a:rPr lang="en-US" sz="10966">
                <a:solidFill>
                  <a:srgbClr val="FFFFFF"/>
                </a:solidFill>
                <a:latin typeface="Engravers' Old English BT"/>
                <a:ea typeface="Engravers' Old English BT"/>
                <a:cs typeface="Engravers' Old English BT"/>
                <a:sym typeface="Engravers' Old English BT"/>
              </a:rPr>
              <a:t>Paralelização Manual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8555637">
            <a:off x="-396671" y="-2681982"/>
            <a:ext cx="2850742" cy="6478959"/>
          </a:xfrm>
          <a:custGeom>
            <a:avLst/>
            <a:gdLst/>
            <a:ahLst/>
            <a:cxnLst/>
            <a:rect r="r" b="b" t="t" l="l"/>
            <a:pathLst>
              <a:path h="6478959" w="2850742">
                <a:moveTo>
                  <a:pt x="0" y="0"/>
                </a:moveTo>
                <a:lnTo>
                  <a:pt x="2850742" y="0"/>
                </a:lnTo>
                <a:lnTo>
                  <a:pt x="2850742" y="6478959"/>
                </a:lnTo>
                <a:lnTo>
                  <a:pt x="0" y="64789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696690" y="1028700"/>
            <a:ext cx="1645967" cy="1559554"/>
          </a:xfrm>
          <a:custGeom>
            <a:avLst/>
            <a:gdLst/>
            <a:ahLst/>
            <a:cxnLst/>
            <a:rect r="r" b="b" t="t" l="l"/>
            <a:pathLst>
              <a:path h="1559554" w="1645967">
                <a:moveTo>
                  <a:pt x="0" y="0"/>
                </a:moveTo>
                <a:lnTo>
                  <a:pt x="1645968" y="0"/>
                </a:lnTo>
                <a:lnTo>
                  <a:pt x="1645968" y="1559554"/>
                </a:lnTo>
                <a:lnTo>
                  <a:pt x="0" y="15595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443117" y="0"/>
            <a:ext cx="6802647" cy="420527"/>
          </a:xfrm>
          <a:custGeom>
            <a:avLst/>
            <a:gdLst/>
            <a:ahLst/>
            <a:cxnLst/>
            <a:rect r="r" b="b" t="t" l="l"/>
            <a:pathLst>
              <a:path h="420527" w="6802647">
                <a:moveTo>
                  <a:pt x="0" y="0"/>
                </a:moveTo>
                <a:lnTo>
                  <a:pt x="6802647" y="0"/>
                </a:lnTo>
                <a:lnTo>
                  <a:pt x="6802647" y="420527"/>
                </a:lnTo>
                <a:lnTo>
                  <a:pt x="0" y="42052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165225">
            <a:off x="17163597" y="5471952"/>
            <a:ext cx="2850742" cy="6478959"/>
          </a:xfrm>
          <a:custGeom>
            <a:avLst/>
            <a:gdLst/>
            <a:ahLst/>
            <a:cxnLst/>
            <a:rect r="r" b="b" t="t" l="l"/>
            <a:pathLst>
              <a:path h="6478959" w="2850742">
                <a:moveTo>
                  <a:pt x="0" y="0"/>
                </a:moveTo>
                <a:lnTo>
                  <a:pt x="2850741" y="0"/>
                </a:lnTo>
                <a:lnTo>
                  <a:pt x="2850741" y="6478958"/>
                </a:lnTo>
                <a:lnTo>
                  <a:pt x="0" y="64789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0" y="9866473"/>
            <a:ext cx="6802647" cy="420527"/>
          </a:xfrm>
          <a:custGeom>
            <a:avLst/>
            <a:gdLst/>
            <a:ahLst/>
            <a:cxnLst/>
            <a:rect r="r" b="b" t="t" l="l"/>
            <a:pathLst>
              <a:path h="420527" w="6802647">
                <a:moveTo>
                  <a:pt x="0" y="0"/>
                </a:moveTo>
                <a:lnTo>
                  <a:pt x="6802647" y="0"/>
                </a:lnTo>
                <a:lnTo>
                  <a:pt x="6802647" y="420527"/>
                </a:lnTo>
                <a:lnTo>
                  <a:pt x="0" y="42052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422100" y="3996635"/>
            <a:ext cx="13443799" cy="172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É um modo de paralelização de código o qual o programador usa diretivas ou libraries para tranformar um código sequecial em paralelo. Aqui</a:t>
            </a:r>
            <a:r>
              <a:rPr lang="en-US" sz="24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, o programador é totalmente responsável por identificar a seção de código paralela e gerenciar a divisão do trabalho, a sincronização e a comunicação.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422100" y="5875862"/>
            <a:ext cx="13443799" cy="3041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Exemplos: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i="tru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Padrões de Threading Nativo (Pthreads, std::thread):</a:t>
            </a:r>
            <a:r>
              <a:rPr lang="en-US" sz="24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O programador cria explicitamente cada thread, atribui a função que cada thread deve executar e usa primitivas de sincronização para garantir a ordem correta das operações.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i="tru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APIs de Diretivas (OpenMP, OpenACC):</a:t>
            </a:r>
            <a:r>
              <a:rPr lang="en-US" sz="24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O programador insere diretivas no código sequencial para "sinalizar" ao compilador onde e como paralelizar. O compilador faz o trabalho pesado de gerar o código paralelo real.</a:t>
            </a:r>
          </a:p>
        </p:txBody>
      </p:sp>
    </p:spTree>
  </p:cSld>
  <p:clrMapOvr>
    <a:masterClrMapping/>
  </p:clrMapOvr>
  <p:transition spd="fast">
    <p:cover dir="rd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02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81994" y="1230912"/>
            <a:ext cx="13124012" cy="1901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0"/>
              </a:lnSpc>
            </a:pPr>
            <a:r>
              <a:rPr lang="en-US" sz="11000">
                <a:solidFill>
                  <a:srgbClr val="FFFFFF"/>
                </a:solidFill>
                <a:latin typeface="Engravers' Old English BT"/>
                <a:ea typeface="Engravers' Old English BT"/>
                <a:cs typeface="Engravers' Old English BT"/>
                <a:sym typeface="Engravers' Old English BT"/>
              </a:rPr>
              <a:t>Da Manual à Automática</a:t>
            </a:r>
          </a:p>
        </p:txBody>
      </p:sp>
      <p:sp>
        <p:nvSpPr>
          <p:cNvPr name="Freeform 3" id="3"/>
          <p:cNvSpPr/>
          <p:nvPr/>
        </p:nvSpPr>
        <p:spPr>
          <a:xfrm flipH="true" flipV="false" rot="0">
            <a:off x="-3088931" y="9466432"/>
            <a:ext cx="24438779" cy="20925704"/>
          </a:xfrm>
          <a:custGeom>
            <a:avLst/>
            <a:gdLst/>
            <a:ahLst/>
            <a:cxnLst/>
            <a:rect r="r" b="b" t="t" l="l"/>
            <a:pathLst>
              <a:path h="20925704" w="24438779">
                <a:moveTo>
                  <a:pt x="24438779" y="0"/>
                </a:moveTo>
                <a:lnTo>
                  <a:pt x="0" y="0"/>
                </a:lnTo>
                <a:lnTo>
                  <a:pt x="0" y="20925705"/>
                </a:lnTo>
                <a:lnTo>
                  <a:pt x="24438779" y="20925705"/>
                </a:lnTo>
                <a:lnTo>
                  <a:pt x="24438779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634471" y="8473251"/>
            <a:ext cx="1249657" cy="1184050"/>
          </a:xfrm>
          <a:custGeom>
            <a:avLst/>
            <a:gdLst/>
            <a:ahLst/>
            <a:cxnLst/>
            <a:rect r="r" b="b" t="t" l="l"/>
            <a:pathLst>
              <a:path h="1184050" w="1249657">
                <a:moveTo>
                  <a:pt x="0" y="0"/>
                </a:moveTo>
                <a:lnTo>
                  <a:pt x="1249658" y="0"/>
                </a:lnTo>
                <a:lnTo>
                  <a:pt x="1249658" y="1184051"/>
                </a:lnTo>
                <a:lnTo>
                  <a:pt x="0" y="118405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7467113">
            <a:off x="-1425371" y="-3611885"/>
            <a:ext cx="2850742" cy="6478959"/>
          </a:xfrm>
          <a:custGeom>
            <a:avLst/>
            <a:gdLst/>
            <a:ahLst/>
            <a:cxnLst/>
            <a:rect r="r" b="b" t="t" l="l"/>
            <a:pathLst>
              <a:path h="6478959" w="2850742">
                <a:moveTo>
                  <a:pt x="0" y="0"/>
                </a:moveTo>
                <a:lnTo>
                  <a:pt x="2850742" y="0"/>
                </a:lnTo>
                <a:lnTo>
                  <a:pt x="2850742" y="6478958"/>
                </a:lnTo>
                <a:lnTo>
                  <a:pt x="0" y="64789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443117" y="0"/>
            <a:ext cx="6802647" cy="420527"/>
          </a:xfrm>
          <a:custGeom>
            <a:avLst/>
            <a:gdLst/>
            <a:ahLst/>
            <a:cxnLst/>
            <a:rect r="r" b="b" t="t" l="l"/>
            <a:pathLst>
              <a:path h="420527" w="6802647">
                <a:moveTo>
                  <a:pt x="0" y="0"/>
                </a:moveTo>
                <a:lnTo>
                  <a:pt x="6802647" y="0"/>
                </a:lnTo>
                <a:lnTo>
                  <a:pt x="6802647" y="420527"/>
                </a:lnTo>
                <a:lnTo>
                  <a:pt x="0" y="4205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-1204442" y="8801506"/>
            <a:ext cx="2751776" cy="2741770"/>
          </a:xfrm>
          <a:custGeom>
            <a:avLst/>
            <a:gdLst/>
            <a:ahLst/>
            <a:cxnLst/>
            <a:rect r="r" b="b" t="t" l="l"/>
            <a:pathLst>
              <a:path h="2741770" w="2751776">
                <a:moveTo>
                  <a:pt x="2751776" y="0"/>
                </a:moveTo>
                <a:lnTo>
                  <a:pt x="0" y="0"/>
                </a:lnTo>
                <a:lnTo>
                  <a:pt x="0" y="2741770"/>
                </a:lnTo>
                <a:lnTo>
                  <a:pt x="2751776" y="2741770"/>
                </a:lnTo>
                <a:lnTo>
                  <a:pt x="2751776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827189" y="7878027"/>
            <a:ext cx="14633621" cy="528235"/>
            <a:chOff x="0" y="0"/>
            <a:chExt cx="19511495" cy="704313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14520395" y="20635"/>
              <a:ext cx="4991100" cy="547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Bernoru UltraExpanded"/>
                  <a:ea typeface="Bernoru UltraExpanded"/>
                  <a:cs typeface="Bernoru UltraExpanded"/>
                  <a:sym typeface="Bernoru UltraExpanded"/>
                </a:rPr>
                <a:t>Automática</a:t>
              </a:r>
            </a:p>
          </p:txBody>
        </p:sp>
        <p:grpSp>
          <p:nvGrpSpPr>
            <p:cNvPr name="Group 10" id="10"/>
            <p:cNvGrpSpPr/>
            <p:nvPr/>
          </p:nvGrpSpPr>
          <p:grpSpPr>
            <a:xfrm rot="-10800000">
              <a:off x="3178433" y="68260"/>
              <a:ext cx="1849075" cy="636053"/>
              <a:chOff x="0" y="0"/>
              <a:chExt cx="1212806" cy="417187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212806" cy="417187"/>
              </a:xfrm>
              <a:custGeom>
                <a:avLst/>
                <a:gdLst/>
                <a:ahLst/>
                <a:cxnLst/>
                <a:rect r="r" b="b" t="t" l="l"/>
                <a:pathLst>
                  <a:path h="417187" w="1212806">
                    <a:moveTo>
                      <a:pt x="239386" y="165664"/>
                    </a:moveTo>
                    <a:lnTo>
                      <a:pt x="1212806" y="165664"/>
                    </a:lnTo>
                    <a:lnTo>
                      <a:pt x="1212806" y="251505"/>
                    </a:lnTo>
                    <a:lnTo>
                      <a:pt x="239373" y="251505"/>
                    </a:lnTo>
                    <a:lnTo>
                      <a:pt x="302255" y="417187"/>
                    </a:lnTo>
                    <a:lnTo>
                      <a:pt x="0" y="208593"/>
                    </a:lnTo>
                    <a:lnTo>
                      <a:pt x="302255" y="0"/>
                    </a:lnTo>
                    <a:lnTo>
                      <a:pt x="239386" y="165664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120650" y="117475"/>
                <a:ext cx="1092156" cy="13461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5256108" y="20635"/>
              <a:ext cx="6958012" cy="547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Bernoru UltraExpanded"/>
                  <a:ea typeface="Bernoru UltraExpanded"/>
                  <a:cs typeface="Bernoru UltraExpanded"/>
                  <a:sym typeface="Bernoru UltraExpanded"/>
                </a:rPr>
                <a:t>Semiautomática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20635"/>
              <a:ext cx="2955867" cy="547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Bernoru UltraExpanded"/>
                  <a:ea typeface="Bernoru UltraExpanded"/>
                  <a:cs typeface="Bernoru UltraExpanded"/>
                  <a:sym typeface="Bernoru UltraExpanded"/>
                </a:rPr>
                <a:t>Manual</a:t>
              </a:r>
            </a:p>
          </p:txBody>
        </p:sp>
        <p:grpSp>
          <p:nvGrpSpPr>
            <p:cNvPr name="Group 15" id="15"/>
            <p:cNvGrpSpPr/>
            <p:nvPr/>
          </p:nvGrpSpPr>
          <p:grpSpPr>
            <a:xfrm rot="-10800000">
              <a:off x="12442720" y="0"/>
              <a:ext cx="1849075" cy="636053"/>
              <a:chOff x="0" y="0"/>
              <a:chExt cx="1212806" cy="417187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212806" cy="417187"/>
              </a:xfrm>
              <a:custGeom>
                <a:avLst/>
                <a:gdLst/>
                <a:ahLst/>
                <a:cxnLst/>
                <a:rect r="r" b="b" t="t" l="l"/>
                <a:pathLst>
                  <a:path h="417187" w="1212806">
                    <a:moveTo>
                      <a:pt x="239386" y="165664"/>
                    </a:moveTo>
                    <a:lnTo>
                      <a:pt x="1212806" y="165664"/>
                    </a:lnTo>
                    <a:lnTo>
                      <a:pt x="1212806" y="251505"/>
                    </a:lnTo>
                    <a:lnTo>
                      <a:pt x="239373" y="251505"/>
                    </a:lnTo>
                    <a:lnTo>
                      <a:pt x="302255" y="417187"/>
                    </a:lnTo>
                    <a:lnTo>
                      <a:pt x="0" y="208593"/>
                    </a:lnTo>
                    <a:lnTo>
                      <a:pt x="302255" y="0"/>
                    </a:lnTo>
                    <a:lnTo>
                      <a:pt x="239386" y="165664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120650" y="117475"/>
                <a:ext cx="1092156" cy="13461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</p:grpSp>
      <p:sp>
        <p:nvSpPr>
          <p:cNvPr name="TextBox 18" id="18"/>
          <p:cNvSpPr txBox="true"/>
          <p:nvPr/>
        </p:nvSpPr>
        <p:spPr>
          <a:xfrm rot="0">
            <a:off x="3430019" y="3366354"/>
            <a:ext cx="11427963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4" indent="-377827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Recapitulando a manual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430019" y="4315678"/>
            <a:ext cx="11427963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4" indent="-377827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Semiautomática (diretivas)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430019" y="5265003"/>
            <a:ext cx="11427963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4" indent="-377827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Automática (compilador)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430019" y="6214327"/>
            <a:ext cx="11427963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4" indent="-377827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Compiladores otimizados, por quê?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11810584" y="1913347"/>
            <a:ext cx="5448716" cy="7083031"/>
            <a:chOff x="0" y="0"/>
            <a:chExt cx="3282950" cy="426765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82950" cy="4267654"/>
            </a:xfrm>
            <a:custGeom>
              <a:avLst/>
              <a:gdLst/>
              <a:ahLst/>
              <a:cxnLst/>
              <a:rect r="r" b="b" t="t" l="l"/>
              <a:pathLst>
                <a:path h="4267654" w="3282950">
                  <a:moveTo>
                    <a:pt x="573898" y="0"/>
                  </a:moveTo>
                  <a:lnTo>
                    <a:pt x="2532380" y="0"/>
                  </a:lnTo>
                  <a:cubicBezTo>
                    <a:pt x="2946400" y="0"/>
                    <a:pt x="3282950" y="437496"/>
                    <a:pt x="3282950" y="975700"/>
                  </a:cubicBezTo>
                  <a:lnTo>
                    <a:pt x="3282950" y="3693756"/>
                  </a:lnTo>
                  <a:cubicBezTo>
                    <a:pt x="3282950" y="4010711"/>
                    <a:pt x="3026007" y="4267654"/>
                    <a:pt x="2709052" y="4267654"/>
                  </a:cubicBezTo>
                  <a:lnTo>
                    <a:pt x="573898" y="4267654"/>
                  </a:lnTo>
                  <a:cubicBezTo>
                    <a:pt x="256943" y="4267654"/>
                    <a:pt x="0" y="4010711"/>
                    <a:pt x="0" y="3693756"/>
                  </a:cubicBezTo>
                  <a:lnTo>
                    <a:pt x="0" y="573898"/>
                  </a:lnTo>
                  <a:cubicBezTo>
                    <a:pt x="0" y="256943"/>
                    <a:pt x="256943" y="0"/>
                    <a:pt x="573898" y="0"/>
                  </a:cubicBezTo>
                  <a:close/>
                </a:path>
              </a:pathLst>
            </a:custGeom>
            <a:solidFill>
              <a:srgbClr val="999999"/>
            </a:solidFill>
            <a:ln cap="rnd" w="12700">
              <a:solidFill>
                <a:srgbClr val="000000"/>
              </a:solidFill>
              <a:prstDash val="dash"/>
              <a:round/>
            </a:ln>
          </p:spPr>
        </p:sp>
      </p:grpSp>
      <p:sp>
        <p:nvSpPr>
          <p:cNvPr name="Freeform 4" id="4"/>
          <p:cNvSpPr/>
          <p:nvPr/>
        </p:nvSpPr>
        <p:spPr>
          <a:xfrm flipH="true" flipV="false" rot="0">
            <a:off x="11810584" y="1526208"/>
            <a:ext cx="5363370" cy="5343867"/>
          </a:xfrm>
          <a:custGeom>
            <a:avLst/>
            <a:gdLst/>
            <a:ahLst/>
            <a:cxnLst/>
            <a:rect r="r" b="b" t="t" l="l"/>
            <a:pathLst>
              <a:path h="5343867" w="5363370">
                <a:moveTo>
                  <a:pt x="5363370" y="0"/>
                </a:moveTo>
                <a:lnTo>
                  <a:pt x="0" y="0"/>
                </a:lnTo>
                <a:lnTo>
                  <a:pt x="0" y="5343867"/>
                </a:lnTo>
                <a:lnTo>
                  <a:pt x="5363370" y="5343867"/>
                </a:lnTo>
                <a:lnTo>
                  <a:pt x="536337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10800000">
            <a:off x="11588149" y="3814924"/>
            <a:ext cx="5671151" cy="5650528"/>
          </a:xfrm>
          <a:custGeom>
            <a:avLst/>
            <a:gdLst/>
            <a:ahLst/>
            <a:cxnLst/>
            <a:rect r="r" b="b" t="t" l="l"/>
            <a:pathLst>
              <a:path h="5650528" w="5671151">
                <a:moveTo>
                  <a:pt x="5671151" y="0"/>
                </a:moveTo>
                <a:lnTo>
                  <a:pt x="0" y="0"/>
                </a:lnTo>
                <a:lnTo>
                  <a:pt x="0" y="5650528"/>
                </a:lnTo>
                <a:lnTo>
                  <a:pt x="5671151" y="5650528"/>
                </a:lnTo>
                <a:lnTo>
                  <a:pt x="5671151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-5738395" y="-5699464"/>
            <a:ext cx="8254861" cy="7068225"/>
          </a:xfrm>
          <a:custGeom>
            <a:avLst/>
            <a:gdLst/>
            <a:ahLst/>
            <a:cxnLst/>
            <a:rect r="r" b="b" t="t" l="l"/>
            <a:pathLst>
              <a:path h="7068225" w="8254861">
                <a:moveTo>
                  <a:pt x="8254861" y="0"/>
                </a:moveTo>
                <a:lnTo>
                  <a:pt x="0" y="0"/>
                </a:lnTo>
                <a:lnTo>
                  <a:pt x="0" y="7068225"/>
                </a:lnTo>
                <a:lnTo>
                  <a:pt x="8254861" y="7068225"/>
                </a:lnTo>
                <a:lnTo>
                  <a:pt x="8254861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-1139834" y="-1631003"/>
            <a:ext cx="2751776" cy="2741770"/>
          </a:xfrm>
          <a:custGeom>
            <a:avLst/>
            <a:gdLst/>
            <a:ahLst/>
            <a:cxnLst/>
            <a:rect r="r" b="b" t="t" l="l"/>
            <a:pathLst>
              <a:path h="2741770" w="2751776">
                <a:moveTo>
                  <a:pt x="2751776" y="0"/>
                </a:moveTo>
                <a:lnTo>
                  <a:pt x="0" y="0"/>
                </a:lnTo>
                <a:lnTo>
                  <a:pt x="0" y="2741770"/>
                </a:lnTo>
                <a:lnTo>
                  <a:pt x="2751776" y="2741770"/>
                </a:lnTo>
                <a:lnTo>
                  <a:pt x="275177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070468" y="8847567"/>
            <a:ext cx="8254861" cy="7068225"/>
          </a:xfrm>
          <a:custGeom>
            <a:avLst/>
            <a:gdLst/>
            <a:ahLst/>
            <a:cxnLst/>
            <a:rect r="r" b="b" t="t" l="l"/>
            <a:pathLst>
              <a:path h="7068225" w="8254861">
                <a:moveTo>
                  <a:pt x="0" y="0"/>
                </a:moveTo>
                <a:lnTo>
                  <a:pt x="8254861" y="0"/>
                </a:lnTo>
                <a:lnTo>
                  <a:pt x="8254861" y="7068225"/>
                </a:lnTo>
                <a:lnTo>
                  <a:pt x="0" y="70682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912112" y="9258300"/>
            <a:ext cx="2751776" cy="2741770"/>
          </a:xfrm>
          <a:custGeom>
            <a:avLst/>
            <a:gdLst/>
            <a:ahLst/>
            <a:cxnLst/>
            <a:rect r="r" b="b" t="t" l="l"/>
            <a:pathLst>
              <a:path h="2741770" w="2751776">
                <a:moveTo>
                  <a:pt x="0" y="0"/>
                </a:moveTo>
                <a:lnTo>
                  <a:pt x="2751776" y="0"/>
                </a:lnTo>
                <a:lnTo>
                  <a:pt x="2751776" y="2741770"/>
                </a:lnTo>
                <a:lnTo>
                  <a:pt x="0" y="27417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731050" y="9882743"/>
            <a:ext cx="2637400" cy="2498936"/>
          </a:xfrm>
          <a:custGeom>
            <a:avLst/>
            <a:gdLst/>
            <a:ahLst/>
            <a:cxnLst/>
            <a:rect r="r" b="b" t="t" l="l"/>
            <a:pathLst>
              <a:path h="2498936" w="2637400">
                <a:moveTo>
                  <a:pt x="0" y="0"/>
                </a:moveTo>
                <a:lnTo>
                  <a:pt x="2637400" y="0"/>
                </a:lnTo>
                <a:lnTo>
                  <a:pt x="2637400" y="2498936"/>
                </a:lnTo>
                <a:lnTo>
                  <a:pt x="0" y="24989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2091528">
            <a:off x="16544223" y="-2210779"/>
            <a:ext cx="2850742" cy="6478959"/>
          </a:xfrm>
          <a:custGeom>
            <a:avLst/>
            <a:gdLst/>
            <a:ahLst/>
            <a:cxnLst/>
            <a:rect r="r" b="b" t="t" l="l"/>
            <a:pathLst>
              <a:path h="6478959" w="2850742">
                <a:moveTo>
                  <a:pt x="0" y="0"/>
                </a:moveTo>
                <a:lnTo>
                  <a:pt x="2850741" y="0"/>
                </a:lnTo>
                <a:lnTo>
                  <a:pt x="2850741" y="6478958"/>
                </a:lnTo>
                <a:lnTo>
                  <a:pt x="0" y="647895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-2091528">
            <a:off x="-1677482" y="6717283"/>
            <a:ext cx="2850742" cy="6478959"/>
          </a:xfrm>
          <a:custGeom>
            <a:avLst/>
            <a:gdLst/>
            <a:ahLst/>
            <a:cxnLst/>
            <a:rect r="r" b="b" t="t" l="l"/>
            <a:pathLst>
              <a:path h="6478959" w="2850742">
                <a:moveTo>
                  <a:pt x="2850742" y="0"/>
                </a:moveTo>
                <a:lnTo>
                  <a:pt x="0" y="0"/>
                </a:lnTo>
                <a:lnTo>
                  <a:pt x="0" y="6478958"/>
                </a:lnTo>
                <a:lnTo>
                  <a:pt x="2850742" y="6478958"/>
                </a:lnTo>
                <a:lnTo>
                  <a:pt x="2850742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731050" y="-1509586"/>
            <a:ext cx="2637400" cy="2498936"/>
          </a:xfrm>
          <a:custGeom>
            <a:avLst/>
            <a:gdLst/>
            <a:ahLst/>
            <a:cxnLst/>
            <a:rect r="r" b="b" t="t" l="l"/>
            <a:pathLst>
              <a:path h="2498936" w="2637400">
                <a:moveTo>
                  <a:pt x="0" y="0"/>
                </a:moveTo>
                <a:lnTo>
                  <a:pt x="2637400" y="0"/>
                </a:lnTo>
                <a:lnTo>
                  <a:pt x="2637400" y="2498936"/>
                </a:lnTo>
                <a:lnTo>
                  <a:pt x="0" y="24989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758444" y="5086000"/>
            <a:ext cx="9357866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D02919"/>
                </a:solidFill>
                <a:latin typeface="Montserrat"/>
                <a:ea typeface="Montserrat"/>
                <a:cs typeface="Montserrat"/>
                <a:sym typeface="Montserrat"/>
              </a:rPr>
              <a:t>Programador marca regiões (diretivas)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1359236"/>
            <a:ext cx="8584489" cy="3343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159"/>
              </a:lnSpc>
            </a:pPr>
            <a:r>
              <a:rPr lang="en-US" sz="10966">
                <a:solidFill>
                  <a:srgbClr val="D02919"/>
                </a:solidFill>
                <a:latin typeface="Engravers' Old English BT"/>
                <a:ea typeface="Engravers' Old English BT"/>
                <a:cs typeface="Engravers' Old English BT"/>
                <a:sym typeface="Engravers' Old English BT"/>
              </a:rPr>
              <a:t>Paralelização Semiautomática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58444" y="6152175"/>
            <a:ext cx="8072289" cy="1225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D02919"/>
                </a:solidFill>
                <a:latin typeface="Montserrat"/>
                <a:ea typeface="Montserrat"/>
                <a:cs typeface="Montserrat"/>
                <a:sym typeface="Montserrat"/>
              </a:rPr>
              <a:t>Compilador gera código paralelo</a:t>
            </a:r>
          </a:p>
          <a:p>
            <a:pPr algn="just">
              <a:lnSpc>
                <a:spcPts val="4900"/>
              </a:lnSpc>
            </a:pPr>
            <a:r>
              <a:rPr lang="en-US" sz="3500">
                <a:solidFill>
                  <a:srgbClr val="D02919"/>
                </a:solidFill>
                <a:latin typeface="Montserrat"/>
                <a:ea typeface="Montserrat"/>
                <a:cs typeface="Montserrat"/>
                <a:sym typeface="Montserrat"/>
              </a:rPr>
              <a:t>      Ex: OpenMP #pragma omp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58444" y="7837475"/>
            <a:ext cx="8881021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D02919"/>
                </a:solidFill>
                <a:latin typeface="Montserrat"/>
                <a:ea typeface="Montserrat"/>
                <a:cs typeface="Montserrat"/>
                <a:sym typeface="Montserrat"/>
              </a:rPr>
              <a:t>Pode usar relatórios/perfil para guiar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914467" y="7712305"/>
            <a:ext cx="3155603" cy="531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97"/>
              </a:lnSpc>
            </a:pPr>
            <a:r>
              <a:rPr lang="en-US" sz="3069">
                <a:solidFill>
                  <a:srgbClr val="000000"/>
                </a:solidFill>
                <a:latin typeface="Bernoru UltraExpanded"/>
                <a:ea typeface="Bernoru UltraExpanded"/>
                <a:cs typeface="Bernoru UltraExpanded"/>
                <a:sym typeface="Bernoru UltraExpanded"/>
              </a:rPr>
              <a:t>Paralelo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840139" y="2665798"/>
            <a:ext cx="3304259" cy="2607230"/>
            <a:chOff x="0" y="0"/>
            <a:chExt cx="4405678" cy="3476306"/>
          </a:xfrm>
        </p:grpSpPr>
        <p:sp>
          <p:nvSpPr>
            <p:cNvPr name="TextBox 20" id="20"/>
            <p:cNvSpPr txBox="true"/>
            <p:nvPr/>
          </p:nvSpPr>
          <p:spPr>
            <a:xfrm rot="0">
              <a:off x="0" y="-66675"/>
              <a:ext cx="4405678" cy="14105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296"/>
                </a:lnSpc>
              </a:pPr>
              <a:r>
                <a:rPr lang="en-US" sz="3068">
                  <a:solidFill>
                    <a:srgbClr val="000000"/>
                  </a:solidFill>
                  <a:latin typeface="Bernoru UltraExpanded"/>
                  <a:ea typeface="Bernoru UltraExpanded"/>
                  <a:cs typeface="Bernoru UltraExpanded"/>
                  <a:sym typeface="Bernoru UltraExpanded"/>
                </a:rPr>
                <a:t>Código + Diretiva</a:t>
              </a:r>
            </a:p>
          </p:txBody>
        </p:sp>
        <p:grpSp>
          <p:nvGrpSpPr>
            <p:cNvPr name="Group 21" id="21"/>
            <p:cNvGrpSpPr/>
            <p:nvPr/>
          </p:nvGrpSpPr>
          <p:grpSpPr>
            <a:xfrm rot="0">
              <a:off x="1745402" y="1776744"/>
              <a:ext cx="914874" cy="1699562"/>
              <a:chOff x="0" y="0"/>
              <a:chExt cx="597599" cy="111016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597599" cy="1110160"/>
              </a:xfrm>
              <a:custGeom>
                <a:avLst/>
                <a:gdLst/>
                <a:ahLst/>
                <a:cxnLst/>
                <a:rect r="r" b="b" t="t" l="l"/>
                <a:pathLst>
                  <a:path h="1110160" w="597599">
                    <a:moveTo>
                      <a:pt x="298799" y="1110160"/>
                    </a:moveTo>
                    <a:lnTo>
                      <a:pt x="0" y="703760"/>
                    </a:lnTo>
                    <a:lnTo>
                      <a:pt x="203200" y="703760"/>
                    </a:lnTo>
                    <a:lnTo>
                      <a:pt x="203200" y="0"/>
                    </a:lnTo>
                    <a:lnTo>
                      <a:pt x="394399" y="0"/>
                    </a:lnTo>
                    <a:lnTo>
                      <a:pt x="394399" y="703760"/>
                    </a:lnTo>
                    <a:lnTo>
                      <a:pt x="597599" y="703760"/>
                    </a:lnTo>
                    <a:lnTo>
                      <a:pt x="298799" y="111016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203200" y="-47625"/>
                <a:ext cx="191199" cy="105618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</p:grpSp>
      <p:grpSp>
        <p:nvGrpSpPr>
          <p:cNvPr name="Group 24" id="24"/>
          <p:cNvGrpSpPr/>
          <p:nvPr/>
        </p:nvGrpSpPr>
        <p:grpSpPr>
          <a:xfrm rot="0">
            <a:off x="12313351" y="5391662"/>
            <a:ext cx="4357836" cy="2063469"/>
            <a:chOff x="0" y="0"/>
            <a:chExt cx="5810448" cy="2751291"/>
          </a:xfrm>
        </p:grpSpPr>
        <p:sp>
          <p:nvSpPr>
            <p:cNvPr name="TextBox 25" id="25"/>
            <p:cNvSpPr txBox="true"/>
            <p:nvPr/>
          </p:nvSpPr>
          <p:spPr>
            <a:xfrm rot="0">
              <a:off x="0" y="-66675"/>
              <a:ext cx="5810448" cy="6866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297"/>
                </a:lnSpc>
              </a:pPr>
              <a:r>
                <a:rPr lang="en-US" sz="3069">
                  <a:solidFill>
                    <a:srgbClr val="000000"/>
                  </a:solidFill>
                  <a:latin typeface="Bernoru UltraExpanded"/>
                  <a:ea typeface="Bernoru UltraExpanded"/>
                  <a:cs typeface="Bernoru UltraExpanded"/>
                  <a:sym typeface="Bernoru UltraExpanded"/>
                </a:rPr>
                <a:t>Compilador</a:t>
              </a:r>
            </a:p>
          </p:txBody>
        </p:sp>
        <p:grpSp>
          <p:nvGrpSpPr>
            <p:cNvPr name="Group 26" id="26"/>
            <p:cNvGrpSpPr/>
            <p:nvPr/>
          </p:nvGrpSpPr>
          <p:grpSpPr>
            <a:xfrm rot="0">
              <a:off x="2447787" y="1051729"/>
              <a:ext cx="914874" cy="1699562"/>
              <a:chOff x="0" y="0"/>
              <a:chExt cx="597599" cy="111016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597599" cy="1110160"/>
              </a:xfrm>
              <a:custGeom>
                <a:avLst/>
                <a:gdLst/>
                <a:ahLst/>
                <a:cxnLst/>
                <a:rect r="r" b="b" t="t" l="l"/>
                <a:pathLst>
                  <a:path h="1110160" w="597599">
                    <a:moveTo>
                      <a:pt x="298799" y="1110160"/>
                    </a:moveTo>
                    <a:lnTo>
                      <a:pt x="0" y="703760"/>
                    </a:lnTo>
                    <a:lnTo>
                      <a:pt x="203200" y="703760"/>
                    </a:lnTo>
                    <a:lnTo>
                      <a:pt x="203200" y="0"/>
                    </a:lnTo>
                    <a:lnTo>
                      <a:pt x="394399" y="0"/>
                    </a:lnTo>
                    <a:lnTo>
                      <a:pt x="394399" y="703760"/>
                    </a:lnTo>
                    <a:lnTo>
                      <a:pt x="597599" y="703760"/>
                    </a:lnTo>
                    <a:lnTo>
                      <a:pt x="298799" y="111016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203200" y="-47625"/>
                <a:ext cx="191199" cy="105618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</p:grpSp>
    </p:spTree>
  </p:cSld>
  <p:clrMapOvr>
    <a:masterClrMapping/>
  </p:clrMapOvr>
  <p:transition spd="fast">
    <p:fade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5738395" y="-5699464"/>
            <a:ext cx="8254861" cy="7068225"/>
          </a:xfrm>
          <a:custGeom>
            <a:avLst/>
            <a:gdLst/>
            <a:ahLst/>
            <a:cxnLst/>
            <a:rect r="r" b="b" t="t" l="l"/>
            <a:pathLst>
              <a:path h="7068225" w="8254861">
                <a:moveTo>
                  <a:pt x="8254861" y="0"/>
                </a:moveTo>
                <a:lnTo>
                  <a:pt x="0" y="0"/>
                </a:lnTo>
                <a:lnTo>
                  <a:pt x="0" y="7068225"/>
                </a:lnTo>
                <a:lnTo>
                  <a:pt x="8254861" y="7068225"/>
                </a:lnTo>
                <a:lnTo>
                  <a:pt x="8254861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1139834" y="-1631003"/>
            <a:ext cx="2751776" cy="2741770"/>
          </a:xfrm>
          <a:custGeom>
            <a:avLst/>
            <a:gdLst/>
            <a:ahLst/>
            <a:cxnLst/>
            <a:rect r="r" b="b" t="t" l="l"/>
            <a:pathLst>
              <a:path h="2741770" w="2751776">
                <a:moveTo>
                  <a:pt x="2751776" y="0"/>
                </a:moveTo>
                <a:lnTo>
                  <a:pt x="0" y="0"/>
                </a:lnTo>
                <a:lnTo>
                  <a:pt x="0" y="2741770"/>
                </a:lnTo>
                <a:lnTo>
                  <a:pt x="2751776" y="2741770"/>
                </a:lnTo>
                <a:lnTo>
                  <a:pt x="275177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070468" y="8847567"/>
            <a:ext cx="8254861" cy="7068225"/>
          </a:xfrm>
          <a:custGeom>
            <a:avLst/>
            <a:gdLst/>
            <a:ahLst/>
            <a:cxnLst/>
            <a:rect r="r" b="b" t="t" l="l"/>
            <a:pathLst>
              <a:path h="7068225" w="8254861">
                <a:moveTo>
                  <a:pt x="0" y="0"/>
                </a:moveTo>
                <a:lnTo>
                  <a:pt x="8254861" y="0"/>
                </a:lnTo>
                <a:lnTo>
                  <a:pt x="8254861" y="7068225"/>
                </a:lnTo>
                <a:lnTo>
                  <a:pt x="0" y="70682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912112" y="9258300"/>
            <a:ext cx="2751776" cy="2741770"/>
          </a:xfrm>
          <a:custGeom>
            <a:avLst/>
            <a:gdLst/>
            <a:ahLst/>
            <a:cxnLst/>
            <a:rect r="r" b="b" t="t" l="l"/>
            <a:pathLst>
              <a:path h="2741770" w="2751776">
                <a:moveTo>
                  <a:pt x="0" y="0"/>
                </a:moveTo>
                <a:lnTo>
                  <a:pt x="2751776" y="0"/>
                </a:lnTo>
                <a:lnTo>
                  <a:pt x="2751776" y="2741770"/>
                </a:lnTo>
                <a:lnTo>
                  <a:pt x="0" y="27417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091528">
            <a:off x="16544223" y="-2210779"/>
            <a:ext cx="2850742" cy="6478959"/>
          </a:xfrm>
          <a:custGeom>
            <a:avLst/>
            <a:gdLst/>
            <a:ahLst/>
            <a:cxnLst/>
            <a:rect r="r" b="b" t="t" l="l"/>
            <a:pathLst>
              <a:path h="6478959" w="2850742">
                <a:moveTo>
                  <a:pt x="0" y="0"/>
                </a:moveTo>
                <a:lnTo>
                  <a:pt x="2850741" y="0"/>
                </a:lnTo>
                <a:lnTo>
                  <a:pt x="2850741" y="6478958"/>
                </a:lnTo>
                <a:lnTo>
                  <a:pt x="0" y="64789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-2091528">
            <a:off x="-1677482" y="6717283"/>
            <a:ext cx="2850742" cy="6478959"/>
          </a:xfrm>
          <a:custGeom>
            <a:avLst/>
            <a:gdLst/>
            <a:ahLst/>
            <a:cxnLst/>
            <a:rect r="r" b="b" t="t" l="l"/>
            <a:pathLst>
              <a:path h="6478959" w="2850742">
                <a:moveTo>
                  <a:pt x="2850742" y="0"/>
                </a:moveTo>
                <a:lnTo>
                  <a:pt x="0" y="0"/>
                </a:lnTo>
                <a:lnTo>
                  <a:pt x="0" y="6478958"/>
                </a:lnTo>
                <a:lnTo>
                  <a:pt x="2850742" y="6478958"/>
                </a:lnTo>
                <a:lnTo>
                  <a:pt x="2850742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731050" y="-1509586"/>
            <a:ext cx="2637400" cy="2498936"/>
          </a:xfrm>
          <a:custGeom>
            <a:avLst/>
            <a:gdLst/>
            <a:ahLst/>
            <a:cxnLst/>
            <a:rect r="r" b="b" t="t" l="l"/>
            <a:pathLst>
              <a:path h="2498936" w="2637400">
                <a:moveTo>
                  <a:pt x="0" y="0"/>
                </a:moveTo>
                <a:lnTo>
                  <a:pt x="2637400" y="0"/>
                </a:lnTo>
                <a:lnTo>
                  <a:pt x="2637400" y="2498936"/>
                </a:lnTo>
                <a:lnTo>
                  <a:pt x="0" y="24989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777035" y="2047525"/>
            <a:ext cx="15908029" cy="167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159"/>
              </a:lnSpc>
            </a:pPr>
            <a:r>
              <a:rPr lang="en-US" sz="10966">
                <a:solidFill>
                  <a:srgbClr val="D02919"/>
                </a:solidFill>
                <a:latin typeface="Engravers' Old English BT"/>
                <a:ea typeface="Engravers' Old English BT"/>
                <a:cs typeface="Engravers' Old English BT"/>
                <a:sym typeface="Engravers' Old English BT"/>
              </a:rPr>
              <a:t>Paralelização Semiautomática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547664" y="3752500"/>
            <a:ext cx="6366771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500">
                <a:solidFill>
                  <a:srgbClr val="D02919"/>
                </a:solidFill>
                <a:latin typeface="Montserrat"/>
                <a:ea typeface="Montserrat"/>
                <a:cs typeface="Montserrat"/>
                <a:sym typeface="Montserrat"/>
              </a:rPr>
              <a:t>EXEMPLO COM OPENMT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589817" y="5238400"/>
            <a:ext cx="8183032" cy="3496247"/>
            <a:chOff x="0" y="0"/>
            <a:chExt cx="10910709" cy="4661663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10910709" cy="4661663"/>
              <a:chOff x="0" y="0"/>
              <a:chExt cx="2313733" cy="988556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2313733" cy="988556"/>
              </a:xfrm>
              <a:custGeom>
                <a:avLst/>
                <a:gdLst/>
                <a:ahLst/>
                <a:cxnLst/>
                <a:rect r="r" b="b" t="t" l="l"/>
                <a:pathLst>
                  <a:path h="988556" w="2313733">
                    <a:moveTo>
                      <a:pt x="14982" y="0"/>
                    </a:moveTo>
                    <a:lnTo>
                      <a:pt x="2298751" y="0"/>
                    </a:lnTo>
                    <a:cubicBezTo>
                      <a:pt x="2302725" y="0"/>
                      <a:pt x="2306535" y="1578"/>
                      <a:pt x="2309345" y="4388"/>
                    </a:cubicBezTo>
                    <a:cubicBezTo>
                      <a:pt x="2312155" y="7198"/>
                      <a:pt x="2313733" y="11008"/>
                      <a:pt x="2313733" y="14982"/>
                    </a:cubicBezTo>
                    <a:lnTo>
                      <a:pt x="2313733" y="973574"/>
                    </a:lnTo>
                    <a:cubicBezTo>
                      <a:pt x="2313733" y="977548"/>
                      <a:pt x="2312155" y="981358"/>
                      <a:pt x="2309345" y="984168"/>
                    </a:cubicBezTo>
                    <a:cubicBezTo>
                      <a:pt x="2306535" y="986977"/>
                      <a:pt x="2302725" y="988556"/>
                      <a:pt x="2298751" y="988556"/>
                    </a:cubicBezTo>
                    <a:lnTo>
                      <a:pt x="14982" y="988556"/>
                    </a:lnTo>
                    <a:cubicBezTo>
                      <a:pt x="11008" y="988556"/>
                      <a:pt x="7198" y="986977"/>
                      <a:pt x="4388" y="984168"/>
                    </a:cubicBezTo>
                    <a:cubicBezTo>
                      <a:pt x="1578" y="981358"/>
                      <a:pt x="0" y="977548"/>
                      <a:pt x="0" y="973574"/>
                    </a:cubicBezTo>
                    <a:lnTo>
                      <a:pt x="0" y="14982"/>
                    </a:lnTo>
                    <a:cubicBezTo>
                      <a:pt x="0" y="11008"/>
                      <a:pt x="1578" y="7198"/>
                      <a:pt x="4388" y="4388"/>
                    </a:cubicBezTo>
                    <a:cubicBezTo>
                      <a:pt x="7198" y="1578"/>
                      <a:pt x="11008" y="0"/>
                      <a:pt x="14982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2313733" cy="103618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222590" y="945048"/>
              <a:ext cx="10465529" cy="3288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972"/>
                </a:lnSpc>
                <a:spcBef>
                  <a:spcPct val="0"/>
                </a:spcBef>
              </a:pPr>
              <a:r>
                <a:rPr lang="en-US" b="true" sz="3551">
                  <a:solidFill>
                    <a:srgbClr val="FFFFFF"/>
                  </a:solidFill>
                  <a:latin typeface="Anca Coder Bold"/>
                  <a:ea typeface="Anca Coder Bold"/>
                  <a:cs typeface="Anca Coder Bold"/>
                  <a:sym typeface="Anca Coder Bold"/>
                </a:rPr>
                <a:t>f</a:t>
              </a:r>
              <a:r>
                <a:rPr lang="en-US" b="true" sz="3551">
                  <a:solidFill>
                    <a:srgbClr val="FFFFFF"/>
                  </a:solidFill>
                  <a:latin typeface="Anca Coder Bold"/>
                  <a:ea typeface="Anca Coder Bold"/>
                  <a:cs typeface="Anca Coder Bold"/>
                  <a:sym typeface="Anca Coder Bold"/>
                </a:rPr>
                <a:t>or (int i = 0; i &lt; n; ++i) {</a:t>
              </a:r>
            </a:p>
            <a:p>
              <a:pPr algn="l">
                <a:lnSpc>
                  <a:spcPts val="4972"/>
                </a:lnSpc>
                <a:spcBef>
                  <a:spcPct val="0"/>
                </a:spcBef>
              </a:pPr>
              <a:r>
                <a:rPr lang="en-US" b="true" sz="3551">
                  <a:solidFill>
                    <a:srgbClr val="FFFFFF"/>
                  </a:solidFill>
                  <a:latin typeface="Anca Coder Bold"/>
                  <a:ea typeface="Anca Coder Bold"/>
                  <a:cs typeface="Anca Coder Bold"/>
                  <a:sym typeface="Anca Coder Bold"/>
                </a:rPr>
                <a:t>    c[i] = a[i] + b[i];</a:t>
              </a:r>
            </a:p>
            <a:p>
              <a:pPr algn="l">
                <a:lnSpc>
                  <a:spcPts val="4972"/>
                </a:lnSpc>
                <a:spcBef>
                  <a:spcPct val="0"/>
                </a:spcBef>
              </a:pPr>
              <a:r>
                <a:rPr lang="en-US" b="true" sz="3551">
                  <a:solidFill>
                    <a:srgbClr val="FFFFFF"/>
                  </a:solidFill>
                  <a:latin typeface="Anca Coder Bold"/>
                  <a:ea typeface="Anca Coder Bold"/>
                  <a:cs typeface="Anca Coder Bold"/>
                  <a:sym typeface="Anca Coder Bold"/>
                </a:rPr>
                <a:t>}</a:t>
              </a:r>
            </a:p>
            <a:p>
              <a:pPr algn="l">
                <a:lnSpc>
                  <a:spcPts val="4972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740575" y="5238400"/>
            <a:ext cx="8183032" cy="3496247"/>
            <a:chOff x="0" y="0"/>
            <a:chExt cx="10910709" cy="4661663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10910709" cy="4661663"/>
              <a:chOff x="0" y="0"/>
              <a:chExt cx="2313733" cy="988556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2313733" cy="988556"/>
              </a:xfrm>
              <a:custGeom>
                <a:avLst/>
                <a:gdLst/>
                <a:ahLst/>
                <a:cxnLst/>
                <a:rect r="r" b="b" t="t" l="l"/>
                <a:pathLst>
                  <a:path h="988556" w="2313733">
                    <a:moveTo>
                      <a:pt x="14982" y="0"/>
                    </a:moveTo>
                    <a:lnTo>
                      <a:pt x="2298751" y="0"/>
                    </a:lnTo>
                    <a:cubicBezTo>
                      <a:pt x="2302725" y="0"/>
                      <a:pt x="2306535" y="1578"/>
                      <a:pt x="2309345" y="4388"/>
                    </a:cubicBezTo>
                    <a:cubicBezTo>
                      <a:pt x="2312155" y="7198"/>
                      <a:pt x="2313733" y="11008"/>
                      <a:pt x="2313733" y="14982"/>
                    </a:cubicBezTo>
                    <a:lnTo>
                      <a:pt x="2313733" y="973574"/>
                    </a:lnTo>
                    <a:cubicBezTo>
                      <a:pt x="2313733" y="977548"/>
                      <a:pt x="2312155" y="981358"/>
                      <a:pt x="2309345" y="984168"/>
                    </a:cubicBezTo>
                    <a:cubicBezTo>
                      <a:pt x="2306535" y="986977"/>
                      <a:pt x="2302725" y="988556"/>
                      <a:pt x="2298751" y="988556"/>
                    </a:cubicBezTo>
                    <a:lnTo>
                      <a:pt x="14982" y="988556"/>
                    </a:lnTo>
                    <a:cubicBezTo>
                      <a:pt x="11008" y="988556"/>
                      <a:pt x="7198" y="986977"/>
                      <a:pt x="4388" y="984168"/>
                    </a:cubicBezTo>
                    <a:cubicBezTo>
                      <a:pt x="1578" y="981358"/>
                      <a:pt x="0" y="977548"/>
                      <a:pt x="0" y="973574"/>
                    </a:cubicBezTo>
                    <a:lnTo>
                      <a:pt x="0" y="14982"/>
                    </a:lnTo>
                    <a:cubicBezTo>
                      <a:pt x="0" y="11008"/>
                      <a:pt x="1578" y="7198"/>
                      <a:pt x="4388" y="4388"/>
                    </a:cubicBezTo>
                    <a:cubicBezTo>
                      <a:pt x="7198" y="1578"/>
                      <a:pt x="11008" y="0"/>
                      <a:pt x="14982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47625"/>
                <a:ext cx="2313733" cy="103618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222590" y="945048"/>
              <a:ext cx="10465529" cy="3288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972"/>
                </a:lnSpc>
              </a:pPr>
              <a:r>
                <a:rPr lang="en-US" sz="3551" b="true">
                  <a:solidFill>
                    <a:srgbClr val="FFFFFF"/>
                  </a:solidFill>
                  <a:latin typeface="Anca Coder Bold"/>
                  <a:ea typeface="Anca Coder Bold"/>
                  <a:cs typeface="Anca Coder Bold"/>
                  <a:sym typeface="Anca Coder Bold"/>
                </a:rPr>
                <a:t>#pragma omp parallel for</a:t>
              </a:r>
            </a:p>
            <a:p>
              <a:pPr algn="l">
                <a:lnSpc>
                  <a:spcPts val="4972"/>
                </a:lnSpc>
                <a:spcBef>
                  <a:spcPct val="0"/>
                </a:spcBef>
              </a:pPr>
              <a:r>
                <a:rPr lang="en-US" b="true" sz="3551">
                  <a:solidFill>
                    <a:srgbClr val="FFFFFF"/>
                  </a:solidFill>
                  <a:latin typeface="Anca Coder Bold"/>
                  <a:ea typeface="Anca Coder Bold"/>
                  <a:cs typeface="Anca Coder Bold"/>
                  <a:sym typeface="Anca Coder Bold"/>
                </a:rPr>
                <a:t>f</a:t>
              </a:r>
              <a:r>
                <a:rPr lang="en-US" b="true" sz="3551">
                  <a:solidFill>
                    <a:srgbClr val="FFFFFF"/>
                  </a:solidFill>
                  <a:latin typeface="Anca Coder Bold"/>
                  <a:ea typeface="Anca Coder Bold"/>
                  <a:cs typeface="Anca Coder Bold"/>
                  <a:sym typeface="Anca Coder Bold"/>
                </a:rPr>
                <a:t>or (int i = 0; i &lt; n; ++i) {</a:t>
              </a:r>
            </a:p>
            <a:p>
              <a:pPr algn="l">
                <a:lnSpc>
                  <a:spcPts val="4972"/>
                </a:lnSpc>
                <a:spcBef>
                  <a:spcPct val="0"/>
                </a:spcBef>
              </a:pPr>
              <a:r>
                <a:rPr lang="en-US" b="true" sz="3551">
                  <a:solidFill>
                    <a:srgbClr val="FFFFFF"/>
                  </a:solidFill>
                  <a:latin typeface="Anca Coder Bold"/>
                  <a:ea typeface="Anca Coder Bold"/>
                  <a:cs typeface="Anca Coder Bold"/>
                  <a:sym typeface="Anca Coder Bold"/>
                </a:rPr>
                <a:t>    c[i] = a[i] + b[i];</a:t>
              </a:r>
            </a:p>
            <a:p>
              <a:pPr algn="l">
                <a:lnSpc>
                  <a:spcPts val="4972"/>
                </a:lnSpc>
                <a:spcBef>
                  <a:spcPct val="0"/>
                </a:spcBef>
              </a:pPr>
              <a:r>
                <a:rPr lang="en-US" b="true" sz="3551">
                  <a:solidFill>
                    <a:srgbClr val="FFFFFF"/>
                  </a:solidFill>
                  <a:latin typeface="Anca Coder Bold"/>
                  <a:ea typeface="Anca Coder Bold"/>
                  <a:cs typeface="Anca Coder Bold"/>
                  <a:sym typeface="Anca Coder Bold"/>
                </a:rPr>
                <a:t>}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777035" y="4537075"/>
            <a:ext cx="5445407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Celandine"/>
                <a:ea typeface="Celandine"/>
                <a:cs typeface="Celandine"/>
                <a:sym typeface="Celandine"/>
              </a:rPr>
              <a:t>Sequencial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049750" y="4537075"/>
            <a:ext cx="5445407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Celandine"/>
                <a:ea typeface="Celandine"/>
                <a:cs typeface="Celandine"/>
                <a:sym typeface="Celandine"/>
              </a:rPr>
              <a:t>Semiautomático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815233" y="8989657"/>
            <a:ext cx="10657533" cy="967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Você indica o laço; o compilador cria threads e sincroniza (OpenMP).</a:t>
            </a:r>
          </a:p>
        </p:txBody>
      </p:sp>
    </p:spTree>
  </p:cSld>
  <p:clrMapOvr>
    <a:masterClrMapping/>
  </p:clrMapOvr>
  <p:transition spd="fast">
    <p:fade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429071" y="126776"/>
            <a:ext cx="2231312" cy="2114168"/>
          </a:xfrm>
          <a:custGeom>
            <a:avLst/>
            <a:gdLst/>
            <a:ahLst/>
            <a:cxnLst/>
            <a:rect r="r" b="b" t="t" l="l"/>
            <a:pathLst>
              <a:path h="2114168" w="2231312">
                <a:moveTo>
                  <a:pt x="0" y="0"/>
                </a:moveTo>
                <a:lnTo>
                  <a:pt x="2231312" y="0"/>
                </a:lnTo>
                <a:lnTo>
                  <a:pt x="2231312" y="2114168"/>
                </a:lnTo>
                <a:lnTo>
                  <a:pt x="0" y="21141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24272" y="1455130"/>
            <a:ext cx="15039457" cy="1883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352"/>
              </a:lnSpc>
            </a:pPr>
            <a:r>
              <a:rPr lang="en-US" sz="10966">
                <a:solidFill>
                  <a:srgbClr val="D02919"/>
                </a:solidFill>
                <a:latin typeface="Engravers' Old English BT"/>
                <a:ea typeface="Engravers' Old English BT"/>
                <a:cs typeface="Engravers' Old English BT"/>
                <a:sym typeface="Engravers' Old English BT"/>
              </a:rPr>
              <a:t>Paralelização Automática</a:t>
            </a:r>
          </a:p>
        </p:txBody>
      </p:sp>
      <p:sp>
        <p:nvSpPr>
          <p:cNvPr name="Freeform 4" id="4"/>
          <p:cNvSpPr/>
          <p:nvPr/>
        </p:nvSpPr>
        <p:spPr>
          <a:xfrm flipH="true" flipV="true" rot="0">
            <a:off x="-2516256" y="-19897004"/>
            <a:ext cx="24438779" cy="20925704"/>
          </a:xfrm>
          <a:custGeom>
            <a:avLst/>
            <a:gdLst/>
            <a:ahLst/>
            <a:cxnLst/>
            <a:rect r="r" b="b" t="t" l="l"/>
            <a:pathLst>
              <a:path h="20925704" w="24438779">
                <a:moveTo>
                  <a:pt x="24438779" y="20925704"/>
                </a:moveTo>
                <a:lnTo>
                  <a:pt x="0" y="20925704"/>
                </a:lnTo>
                <a:lnTo>
                  <a:pt x="0" y="0"/>
                </a:lnTo>
                <a:lnTo>
                  <a:pt x="24438779" y="0"/>
                </a:lnTo>
                <a:lnTo>
                  <a:pt x="24438779" y="20925704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115656" y="9229916"/>
            <a:ext cx="2231312" cy="2114168"/>
          </a:xfrm>
          <a:custGeom>
            <a:avLst/>
            <a:gdLst/>
            <a:ahLst/>
            <a:cxnLst/>
            <a:rect r="r" b="b" t="t" l="l"/>
            <a:pathLst>
              <a:path h="2114168" w="2231312">
                <a:moveTo>
                  <a:pt x="0" y="0"/>
                </a:moveTo>
                <a:lnTo>
                  <a:pt x="2231312" y="0"/>
                </a:lnTo>
                <a:lnTo>
                  <a:pt x="2231312" y="2114168"/>
                </a:lnTo>
                <a:lnTo>
                  <a:pt x="0" y="21141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00000">
            <a:off x="-3191060" y="5318738"/>
            <a:ext cx="6802647" cy="420527"/>
          </a:xfrm>
          <a:custGeom>
            <a:avLst/>
            <a:gdLst/>
            <a:ahLst/>
            <a:cxnLst/>
            <a:rect r="r" b="b" t="t" l="l"/>
            <a:pathLst>
              <a:path h="420527" w="6802647">
                <a:moveTo>
                  <a:pt x="0" y="0"/>
                </a:moveTo>
                <a:lnTo>
                  <a:pt x="6802647" y="0"/>
                </a:lnTo>
                <a:lnTo>
                  <a:pt x="6802647" y="420528"/>
                </a:lnTo>
                <a:lnTo>
                  <a:pt x="0" y="42052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2301202">
            <a:off x="17235012" y="6385957"/>
            <a:ext cx="2850742" cy="6478959"/>
          </a:xfrm>
          <a:custGeom>
            <a:avLst/>
            <a:gdLst/>
            <a:ahLst/>
            <a:cxnLst/>
            <a:rect r="r" b="b" t="t" l="l"/>
            <a:pathLst>
              <a:path h="6478959" w="2850742">
                <a:moveTo>
                  <a:pt x="0" y="0"/>
                </a:moveTo>
                <a:lnTo>
                  <a:pt x="2850742" y="0"/>
                </a:lnTo>
                <a:lnTo>
                  <a:pt x="2850742" y="6478958"/>
                </a:lnTo>
                <a:lnTo>
                  <a:pt x="0" y="647895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696498" y="8479671"/>
            <a:ext cx="14895005" cy="450654"/>
            <a:chOff x="0" y="0"/>
            <a:chExt cx="19860006" cy="600873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44075"/>
              <a:ext cx="4816277" cy="5566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00"/>
                </a:lnSpc>
              </a:pPr>
              <a:r>
                <a:rPr lang="en-US" sz="2500">
                  <a:solidFill>
                    <a:srgbClr val="FFFFFF"/>
                  </a:solidFill>
                  <a:latin typeface="Bernoru UltraExpanded"/>
                  <a:ea typeface="Bernoru UltraExpanded"/>
                  <a:cs typeface="Bernoru UltraExpanded"/>
                  <a:sym typeface="Bernoru UltraExpanded"/>
                </a:rPr>
                <a:t>SEQUENCIAL</a:t>
              </a:r>
            </a:p>
          </p:txBody>
        </p:sp>
        <p:grpSp>
          <p:nvGrpSpPr>
            <p:cNvPr name="Group 10" id="10"/>
            <p:cNvGrpSpPr/>
            <p:nvPr/>
          </p:nvGrpSpPr>
          <p:grpSpPr>
            <a:xfrm rot="0">
              <a:off x="5105908" y="75189"/>
              <a:ext cx="2371066" cy="525684"/>
              <a:chOff x="0" y="0"/>
              <a:chExt cx="3969684" cy="88011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32419" y="45720"/>
                <a:ext cx="3906551" cy="783590"/>
              </a:xfrm>
              <a:custGeom>
                <a:avLst/>
                <a:gdLst/>
                <a:ahLst/>
                <a:cxnLst/>
                <a:rect r="r" b="b" t="t" l="l"/>
                <a:pathLst>
                  <a:path h="783590" w="3906551">
                    <a:moveTo>
                      <a:pt x="19623" y="294640"/>
                    </a:moveTo>
                    <a:cubicBezTo>
                      <a:pt x="216699" y="317500"/>
                      <a:pt x="295189" y="314960"/>
                      <a:pt x="458139" y="317500"/>
                    </a:cubicBezTo>
                    <a:cubicBezTo>
                      <a:pt x="973439" y="322580"/>
                      <a:pt x="3527755" y="240030"/>
                      <a:pt x="3672790" y="322580"/>
                    </a:cubicBezTo>
                    <a:cubicBezTo>
                      <a:pt x="3685587" y="328930"/>
                      <a:pt x="3689853" y="336550"/>
                      <a:pt x="3689853" y="344170"/>
                    </a:cubicBezTo>
                    <a:cubicBezTo>
                      <a:pt x="3690706" y="353060"/>
                      <a:pt x="3679615" y="373380"/>
                      <a:pt x="3672790" y="373380"/>
                    </a:cubicBezTo>
                    <a:cubicBezTo>
                      <a:pt x="3665112" y="373380"/>
                      <a:pt x="3663405" y="347980"/>
                      <a:pt x="3647196" y="331470"/>
                    </a:cubicBezTo>
                    <a:cubicBezTo>
                      <a:pt x="3593447" y="274320"/>
                      <a:pt x="3288021" y="118110"/>
                      <a:pt x="3232567" y="68580"/>
                    </a:cubicBezTo>
                    <a:cubicBezTo>
                      <a:pt x="3217210" y="55880"/>
                      <a:pt x="3208679" y="48260"/>
                      <a:pt x="3206120" y="36830"/>
                    </a:cubicBezTo>
                    <a:cubicBezTo>
                      <a:pt x="3204413" y="29210"/>
                      <a:pt x="3206973" y="19050"/>
                      <a:pt x="3209532" y="13970"/>
                    </a:cubicBezTo>
                    <a:cubicBezTo>
                      <a:pt x="3212945" y="8890"/>
                      <a:pt x="3216357" y="6350"/>
                      <a:pt x="3224035" y="5080"/>
                    </a:cubicBezTo>
                    <a:cubicBezTo>
                      <a:pt x="3248777" y="2540"/>
                      <a:pt x="3322147" y="29210"/>
                      <a:pt x="3381867" y="57150"/>
                    </a:cubicBezTo>
                    <a:cubicBezTo>
                      <a:pt x="3465476" y="93980"/>
                      <a:pt x="3581503" y="177800"/>
                      <a:pt x="3672790" y="227330"/>
                    </a:cubicBezTo>
                    <a:cubicBezTo>
                      <a:pt x="3753839" y="269240"/>
                      <a:pt x="3894608" y="294640"/>
                      <a:pt x="3903139" y="336550"/>
                    </a:cubicBezTo>
                    <a:cubicBezTo>
                      <a:pt x="3906551" y="356870"/>
                      <a:pt x="3886076" y="379730"/>
                      <a:pt x="3867307" y="400050"/>
                    </a:cubicBezTo>
                    <a:cubicBezTo>
                      <a:pt x="3834034" y="435610"/>
                      <a:pt x="3757251" y="461010"/>
                      <a:pt x="3701796" y="497840"/>
                    </a:cubicBezTo>
                    <a:cubicBezTo>
                      <a:pt x="3644636" y="535940"/>
                      <a:pt x="3573825" y="586740"/>
                      <a:pt x="3530314" y="626110"/>
                    </a:cubicBezTo>
                    <a:cubicBezTo>
                      <a:pt x="3502161" y="651510"/>
                      <a:pt x="3474007" y="674370"/>
                      <a:pt x="3462916" y="695960"/>
                    </a:cubicBezTo>
                    <a:cubicBezTo>
                      <a:pt x="3456944" y="709930"/>
                      <a:pt x="3460357" y="722630"/>
                      <a:pt x="3455238" y="734060"/>
                    </a:cubicBezTo>
                    <a:cubicBezTo>
                      <a:pt x="3446706" y="751840"/>
                      <a:pt x="3423671" y="781050"/>
                      <a:pt x="3413434" y="782320"/>
                    </a:cubicBezTo>
                    <a:cubicBezTo>
                      <a:pt x="3407462" y="783590"/>
                      <a:pt x="3401490" y="778510"/>
                      <a:pt x="3398930" y="772160"/>
                    </a:cubicBezTo>
                    <a:cubicBezTo>
                      <a:pt x="3395517" y="765810"/>
                      <a:pt x="3395517" y="748030"/>
                      <a:pt x="3398930" y="741680"/>
                    </a:cubicBezTo>
                    <a:cubicBezTo>
                      <a:pt x="3403196" y="735330"/>
                      <a:pt x="3419406" y="732790"/>
                      <a:pt x="3423671" y="737870"/>
                    </a:cubicBezTo>
                    <a:cubicBezTo>
                      <a:pt x="3427937" y="744220"/>
                      <a:pt x="3428790" y="768350"/>
                      <a:pt x="3424525" y="774700"/>
                    </a:cubicBezTo>
                    <a:cubicBezTo>
                      <a:pt x="3421112" y="781050"/>
                      <a:pt x="3404049" y="781050"/>
                      <a:pt x="3399784" y="774700"/>
                    </a:cubicBezTo>
                    <a:cubicBezTo>
                      <a:pt x="3396371" y="769620"/>
                      <a:pt x="3395517" y="753110"/>
                      <a:pt x="3398077" y="744220"/>
                    </a:cubicBezTo>
                    <a:cubicBezTo>
                      <a:pt x="3401490" y="731520"/>
                      <a:pt x="3417699" y="726440"/>
                      <a:pt x="3424525" y="712470"/>
                    </a:cubicBezTo>
                    <a:cubicBezTo>
                      <a:pt x="3432203" y="698500"/>
                      <a:pt x="3430497" y="676910"/>
                      <a:pt x="3440734" y="659130"/>
                    </a:cubicBezTo>
                    <a:cubicBezTo>
                      <a:pt x="3455238" y="632460"/>
                      <a:pt x="3483392" y="608330"/>
                      <a:pt x="3514105" y="581660"/>
                    </a:cubicBezTo>
                    <a:cubicBezTo>
                      <a:pt x="3559321" y="541020"/>
                      <a:pt x="3629279" y="488950"/>
                      <a:pt x="3689000" y="450850"/>
                    </a:cubicBezTo>
                    <a:cubicBezTo>
                      <a:pt x="3749573" y="412750"/>
                      <a:pt x="3874985" y="349250"/>
                      <a:pt x="3875838" y="353060"/>
                    </a:cubicBezTo>
                    <a:cubicBezTo>
                      <a:pt x="3875838" y="353060"/>
                      <a:pt x="3868160" y="363220"/>
                      <a:pt x="3860482" y="364490"/>
                    </a:cubicBezTo>
                    <a:cubicBezTo>
                      <a:pt x="3843419" y="368300"/>
                      <a:pt x="3809293" y="349250"/>
                      <a:pt x="3768342" y="330200"/>
                    </a:cubicBezTo>
                    <a:cubicBezTo>
                      <a:pt x="3681321" y="289560"/>
                      <a:pt x="3470594" y="153670"/>
                      <a:pt x="3373336" y="105410"/>
                    </a:cubicBezTo>
                    <a:cubicBezTo>
                      <a:pt x="3317882" y="77470"/>
                      <a:pt x="3266693" y="50800"/>
                      <a:pt x="3240245" y="48260"/>
                    </a:cubicBezTo>
                    <a:cubicBezTo>
                      <a:pt x="3229154" y="48260"/>
                      <a:pt x="3222329" y="58420"/>
                      <a:pt x="3216357" y="54610"/>
                    </a:cubicBezTo>
                    <a:cubicBezTo>
                      <a:pt x="3211238" y="50800"/>
                      <a:pt x="3204413" y="33020"/>
                      <a:pt x="3206119" y="25400"/>
                    </a:cubicBezTo>
                    <a:cubicBezTo>
                      <a:pt x="3206973" y="16510"/>
                      <a:pt x="3213798" y="6350"/>
                      <a:pt x="3224035" y="5080"/>
                    </a:cubicBezTo>
                    <a:cubicBezTo>
                      <a:pt x="3265839" y="0"/>
                      <a:pt x="3462063" y="156210"/>
                      <a:pt x="3545671" y="217170"/>
                    </a:cubicBezTo>
                    <a:cubicBezTo>
                      <a:pt x="3601125" y="256540"/>
                      <a:pt x="3663405" y="294640"/>
                      <a:pt x="3681321" y="325120"/>
                    </a:cubicBezTo>
                    <a:cubicBezTo>
                      <a:pt x="3688146" y="336550"/>
                      <a:pt x="3690706" y="347980"/>
                      <a:pt x="3689000" y="356870"/>
                    </a:cubicBezTo>
                    <a:cubicBezTo>
                      <a:pt x="3687293" y="364490"/>
                      <a:pt x="3683881" y="368300"/>
                      <a:pt x="3672790" y="373380"/>
                    </a:cubicBezTo>
                    <a:cubicBezTo>
                      <a:pt x="3525196" y="441960"/>
                      <a:pt x="499943" y="387350"/>
                      <a:pt x="133091" y="360680"/>
                    </a:cubicBezTo>
                    <a:cubicBezTo>
                      <a:pt x="64839" y="356870"/>
                      <a:pt x="30714" y="361950"/>
                      <a:pt x="12798" y="344170"/>
                    </a:cubicBezTo>
                    <a:cubicBezTo>
                      <a:pt x="5119" y="336550"/>
                      <a:pt x="0" y="322580"/>
                      <a:pt x="1707" y="314960"/>
                    </a:cubicBezTo>
                    <a:cubicBezTo>
                      <a:pt x="2560" y="307340"/>
                      <a:pt x="19623" y="294640"/>
                      <a:pt x="19623" y="294640"/>
                    </a:cubicBezTo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12" id="12"/>
            <p:cNvSpPr txBox="true"/>
            <p:nvPr/>
          </p:nvSpPr>
          <p:spPr>
            <a:xfrm rot="0">
              <a:off x="7769074" y="-34550"/>
              <a:ext cx="5027414" cy="547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Bernoru UltraExpanded"/>
                  <a:ea typeface="Bernoru UltraExpanded"/>
                  <a:cs typeface="Bernoru UltraExpanded"/>
                  <a:sym typeface="Bernoru UltraExpanded"/>
                </a:rPr>
                <a:t>COMPILADOR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15751755" y="-44075"/>
              <a:ext cx="4108252" cy="5566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00"/>
                </a:lnSpc>
              </a:pPr>
              <a:r>
                <a:rPr lang="en-US" sz="2500">
                  <a:solidFill>
                    <a:srgbClr val="FFFFFF"/>
                  </a:solidFill>
                  <a:latin typeface="Bernoru UltraExpanded"/>
                  <a:ea typeface="Bernoru UltraExpanded"/>
                  <a:cs typeface="Bernoru UltraExpanded"/>
                  <a:sym typeface="Bernoru UltraExpanded"/>
                </a:rPr>
                <a:t>PARALELO</a:t>
              </a:r>
            </a:p>
          </p:txBody>
        </p:sp>
        <p:grpSp>
          <p:nvGrpSpPr>
            <p:cNvPr name="Group 14" id="14"/>
            <p:cNvGrpSpPr/>
            <p:nvPr/>
          </p:nvGrpSpPr>
          <p:grpSpPr>
            <a:xfrm rot="0">
              <a:off x="13088588" y="0"/>
              <a:ext cx="2371066" cy="525684"/>
              <a:chOff x="0" y="0"/>
              <a:chExt cx="3969684" cy="88011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32419" y="45720"/>
                <a:ext cx="3906551" cy="783590"/>
              </a:xfrm>
              <a:custGeom>
                <a:avLst/>
                <a:gdLst/>
                <a:ahLst/>
                <a:cxnLst/>
                <a:rect r="r" b="b" t="t" l="l"/>
                <a:pathLst>
                  <a:path h="783590" w="3906551">
                    <a:moveTo>
                      <a:pt x="19623" y="294640"/>
                    </a:moveTo>
                    <a:cubicBezTo>
                      <a:pt x="216699" y="317500"/>
                      <a:pt x="295189" y="314960"/>
                      <a:pt x="458139" y="317500"/>
                    </a:cubicBezTo>
                    <a:cubicBezTo>
                      <a:pt x="973439" y="322580"/>
                      <a:pt x="3527755" y="240030"/>
                      <a:pt x="3672790" y="322580"/>
                    </a:cubicBezTo>
                    <a:cubicBezTo>
                      <a:pt x="3685587" y="328930"/>
                      <a:pt x="3689853" y="336550"/>
                      <a:pt x="3689853" y="344170"/>
                    </a:cubicBezTo>
                    <a:cubicBezTo>
                      <a:pt x="3690706" y="353060"/>
                      <a:pt x="3679615" y="373380"/>
                      <a:pt x="3672790" y="373380"/>
                    </a:cubicBezTo>
                    <a:cubicBezTo>
                      <a:pt x="3665112" y="373380"/>
                      <a:pt x="3663405" y="347980"/>
                      <a:pt x="3647196" y="331470"/>
                    </a:cubicBezTo>
                    <a:cubicBezTo>
                      <a:pt x="3593447" y="274320"/>
                      <a:pt x="3288021" y="118110"/>
                      <a:pt x="3232567" y="68580"/>
                    </a:cubicBezTo>
                    <a:cubicBezTo>
                      <a:pt x="3217210" y="55880"/>
                      <a:pt x="3208679" y="48260"/>
                      <a:pt x="3206120" y="36830"/>
                    </a:cubicBezTo>
                    <a:cubicBezTo>
                      <a:pt x="3204413" y="29210"/>
                      <a:pt x="3206973" y="19050"/>
                      <a:pt x="3209532" y="13970"/>
                    </a:cubicBezTo>
                    <a:cubicBezTo>
                      <a:pt x="3212945" y="8890"/>
                      <a:pt x="3216357" y="6350"/>
                      <a:pt x="3224035" y="5080"/>
                    </a:cubicBezTo>
                    <a:cubicBezTo>
                      <a:pt x="3248777" y="2540"/>
                      <a:pt x="3322147" y="29210"/>
                      <a:pt x="3381867" y="57150"/>
                    </a:cubicBezTo>
                    <a:cubicBezTo>
                      <a:pt x="3465476" y="93980"/>
                      <a:pt x="3581503" y="177800"/>
                      <a:pt x="3672790" y="227330"/>
                    </a:cubicBezTo>
                    <a:cubicBezTo>
                      <a:pt x="3753839" y="269240"/>
                      <a:pt x="3894608" y="294640"/>
                      <a:pt x="3903139" y="336550"/>
                    </a:cubicBezTo>
                    <a:cubicBezTo>
                      <a:pt x="3906551" y="356870"/>
                      <a:pt x="3886076" y="379730"/>
                      <a:pt x="3867307" y="400050"/>
                    </a:cubicBezTo>
                    <a:cubicBezTo>
                      <a:pt x="3834034" y="435610"/>
                      <a:pt x="3757251" y="461010"/>
                      <a:pt x="3701796" y="497840"/>
                    </a:cubicBezTo>
                    <a:cubicBezTo>
                      <a:pt x="3644636" y="535940"/>
                      <a:pt x="3573825" y="586740"/>
                      <a:pt x="3530314" y="626110"/>
                    </a:cubicBezTo>
                    <a:cubicBezTo>
                      <a:pt x="3502161" y="651510"/>
                      <a:pt x="3474007" y="674370"/>
                      <a:pt x="3462916" y="695960"/>
                    </a:cubicBezTo>
                    <a:cubicBezTo>
                      <a:pt x="3456944" y="709930"/>
                      <a:pt x="3460357" y="722630"/>
                      <a:pt x="3455238" y="734060"/>
                    </a:cubicBezTo>
                    <a:cubicBezTo>
                      <a:pt x="3446706" y="751840"/>
                      <a:pt x="3423671" y="781050"/>
                      <a:pt x="3413434" y="782320"/>
                    </a:cubicBezTo>
                    <a:cubicBezTo>
                      <a:pt x="3407462" y="783590"/>
                      <a:pt x="3401490" y="778510"/>
                      <a:pt x="3398930" y="772160"/>
                    </a:cubicBezTo>
                    <a:cubicBezTo>
                      <a:pt x="3395517" y="765810"/>
                      <a:pt x="3395517" y="748030"/>
                      <a:pt x="3398930" y="741680"/>
                    </a:cubicBezTo>
                    <a:cubicBezTo>
                      <a:pt x="3403196" y="735330"/>
                      <a:pt x="3419406" y="732790"/>
                      <a:pt x="3423671" y="737870"/>
                    </a:cubicBezTo>
                    <a:cubicBezTo>
                      <a:pt x="3427937" y="744220"/>
                      <a:pt x="3428790" y="768350"/>
                      <a:pt x="3424525" y="774700"/>
                    </a:cubicBezTo>
                    <a:cubicBezTo>
                      <a:pt x="3421112" y="781050"/>
                      <a:pt x="3404049" y="781050"/>
                      <a:pt x="3399784" y="774700"/>
                    </a:cubicBezTo>
                    <a:cubicBezTo>
                      <a:pt x="3396371" y="769620"/>
                      <a:pt x="3395517" y="753110"/>
                      <a:pt x="3398077" y="744220"/>
                    </a:cubicBezTo>
                    <a:cubicBezTo>
                      <a:pt x="3401490" y="731520"/>
                      <a:pt x="3417699" y="726440"/>
                      <a:pt x="3424525" y="712470"/>
                    </a:cubicBezTo>
                    <a:cubicBezTo>
                      <a:pt x="3432203" y="698500"/>
                      <a:pt x="3430497" y="676910"/>
                      <a:pt x="3440734" y="659130"/>
                    </a:cubicBezTo>
                    <a:cubicBezTo>
                      <a:pt x="3455238" y="632460"/>
                      <a:pt x="3483392" y="608330"/>
                      <a:pt x="3514105" y="581660"/>
                    </a:cubicBezTo>
                    <a:cubicBezTo>
                      <a:pt x="3559321" y="541020"/>
                      <a:pt x="3629279" y="488950"/>
                      <a:pt x="3689000" y="450850"/>
                    </a:cubicBezTo>
                    <a:cubicBezTo>
                      <a:pt x="3749573" y="412750"/>
                      <a:pt x="3874985" y="349250"/>
                      <a:pt x="3875838" y="353060"/>
                    </a:cubicBezTo>
                    <a:cubicBezTo>
                      <a:pt x="3875838" y="353060"/>
                      <a:pt x="3868160" y="363220"/>
                      <a:pt x="3860482" y="364490"/>
                    </a:cubicBezTo>
                    <a:cubicBezTo>
                      <a:pt x="3843419" y="368300"/>
                      <a:pt x="3809293" y="349250"/>
                      <a:pt x="3768342" y="330200"/>
                    </a:cubicBezTo>
                    <a:cubicBezTo>
                      <a:pt x="3681321" y="289560"/>
                      <a:pt x="3470594" y="153670"/>
                      <a:pt x="3373336" y="105410"/>
                    </a:cubicBezTo>
                    <a:cubicBezTo>
                      <a:pt x="3317882" y="77470"/>
                      <a:pt x="3266693" y="50800"/>
                      <a:pt x="3240245" y="48260"/>
                    </a:cubicBezTo>
                    <a:cubicBezTo>
                      <a:pt x="3229154" y="48260"/>
                      <a:pt x="3222329" y="58420"/>
                      <a:pt x="3216357" y="54610"/>
                    </a:cubicBezTo>
                    <a:cubicBezTo>
                      <a:pt x="3211238" y="50800"/>
                      <a:pt x="3204413" y="33020"/>
                      <a:pt x="3206119" y="25400"/>
                    </a:cubicBezTo>
                    <a:cubicBezTo>
                      <a:pt x="3206973" y="16510"/>
                      <a:pt x="3213798" y="6350"/>
                      <a:pt x="3224035" y="5080"/>
                    </a:cubicBezTo>
                    <a:cubicBezTo>
                      <a:pt x="3265839" y="0"/>
                      <a:pt x="3462063" y="156210"/>
                      <a:pt x="3545671" y="217170"/>
                    </a:cubicBezTo>
                    <a:cubicBezTo>
                      <a:pt x="3601125" y="256540"/>
                      <a:pt x="3663405" y="294640"/>
                      <a:pt x="3681321" y="325120"/>
                    </a:cubicBezTo>
                    <a:cubicBezTo>
                      <a:pt x="3688146" y="336550"/>
                      <a:pt x="3690706" y="347980"/>
                      <a:pt x="3689000" y="356870"/>
                    </a:cubicBezTo>
                    <a:cubicBezTo>
                      <a:pt x="3687293" y="364490"/>
                      <a:pt x="3683881" y="368300"/>
                      <a:pt x="3672790" y="373380"/>
                    </a:cubicBezTo>
                    <a:cubicBezTo>
                      <a:pt x="3525196" y="441960"/>
                      <a:pt x="499943" y="387350"/>
                      <a:pt x="133091" y="360680"/>
                    </a:cubicBezTo>
                    <a:cubicBezTo>
                      <a:pt x="64839" y="356870"/>
                      <a:pt x="30714" y="361950"/>
                      <a:pt x="12798" y="344170"/>
                    </a:cubicBezTo>
                    <a:cubicBezTo>
                      <a:pt x="5119" y="336550"/>
                      <a:pt x="0" y="322580"/>
                      <a:pt x="1707" y="314960"/>
                    </a:cubicBezTo>
                    <a:cubicBezTo>
                      <a:pt x="2560" y="307340"/>
                      <a:pt x="19623" y="294640"/>
                      <a:pt x="19623" y="294640"/>
                    </a:cubicBezTo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</p:grpSp>
      </p:grpSp>
      <p:sp>
        <p:nvSpPr>
          <p:cNvPr name="TextBox 16" id="16"/>
          <p:cNvSpPr txBox="true"/>
          <p:nvPr/>
        </p:nvSpPr>
        <p:spPr>
          <a:xfrm rot="0">
            <a:off x="6015443" y="3386689"/>
            <a:ext cx="6257114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CONCEITO GERAL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059835" y="4574139"/>
            <a:ext cx="10168329" cy="596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6" indent="-377823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Compilador analisa código sequencial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059835" y="5422100"/>
            <a:ext cx="10168329" cy="596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6" indent="-377823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Encontra laços/trechos paralelizáveis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059835" y="6266650"/>
            <a:ext cx="10168329" cy="596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6" indent="-377823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Gera threads ou SIMD sem diretivas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059835" y="7111201"/>
            <a:ext cx="10168329" cy="596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6" indent="-377823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Melhor em laços limpos</a:t>
            </a:r>
          </a:p>
        </p:txBody>
      </p:sp>
    </p:spTree>
  </p:cSld>
  <p:clrMapOvr>
    <a:masterClrMapping/>
  </p:clrMapOvr>
  <p:transition spd="fast">
    <p:fade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3088931" y="9466432"/>
            <a:ext cx="24438779" cy="20925704"/>
          </a:xfrm>
          <a:custGeom>
            <a:avLst/>
            <a:gdLst/>
            <a:ahLst/>
            <a:cxnLst/>
            <a:rect r="r" b="b" t="t" l="l"/>
            <a:pathLst>
              <a:path h="20925704" w="24438779">
                <a:moveTo>
                  <a:pt x="24438779" y="0"/>
                </a:moveTo>
                <a:lnTo>
                  <a:pt x="0" y="0"/>
                </a:lnTo>
                <a:lnTo>
                  <a:pt x="0" y="20925705"/>
                </a:lnTo>
                <a:lnTo>
                  <a:pt x="24438779" y="20925705"/>
                </a:lnTo>
                <a:lnTo>
                  <a:pt x="24438779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634471" y="8473251"/>
            <a:ext cx="1249657" cy="1184050"/>
          </a:xfrm>
          <a:custGeom>
            <a:avLst/>
            <a:gdLst/>
            <a:ahLst/>
            <a:cxnLst/>
            <a:rect r="r" b="b" t="t" l="l"/>
            <a:pathLst>
              <a:path h="1184050" w="1249657">
                <a:moveTo>
                  <a:pt x="0" y="0"/>
                </a:moveTo>
                <a:lnTo>
                  <a:pt x="1249658" y="0"/>
                </a:lnTo>
                <a:lnTo>
                  <a:pt x="1249658" y="1184051"/>
                </a:lnTo>
                <a:lnTo>
                  <a:pt x="0" y="118405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7467113">
            <a:off x="-1425371" y="-3611885"/>
            <a:ext cx="2850742" cy="6478959"/>
          </a:xfrm>
          <a:custGeom>
            <a:avLst/>
            <a:gdLst/>
            <a:ahLst/>
            <a:cxnLst/>
            <a:rect r="r" b="b" t="t" l="l"/>
            <a:pathLst>
              <a:path h="6478959" w="2850742">
                <a:moveTo>
                  <a:pt x="0" y="0"/>
                </a:moveTo>
                <a:lnTo>
                  <a:pt x="2850742" y="0"/>
                </a:lnTo>
                <a:lnTo>
                  <a:pt x="2850742" y="6478958"/>
                </a:lnTo>
                <a:lnTo>
                  <a:pt x="0" y="64789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443117" y="0"/>
            <a:ext cx="6802647" cy="420527"/>
          </a:xfrm>
          <a:custGeom>
            <a:avLst/>
            <a:gdLst/>
            <a:ahLst/>
            <a:cxnLst/>
            <a:rect r="r" b="b" t="t" l="l"/>
            <a:pathLst>
              <a:path h="420527" w="6802647">
                <a:moveTo>
                  <a:pt x="0" y="0"/>
                </a:moveTo>
                <a:lnTo>
                  <a:pt x="6802647" y="0"/>
                </a:lnTo>
                <a:lnTo>
                  <a:pt x="6802647" y="420527"/>
                </a:lnTo>
                <a:lnTo>
                  <a:pt x="0" y="4205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-1204442" y="8801506"/>
            <a:ext cx="2751776" cy="2741770"/>
          </a:xfrm>
          <a:custGeom>
            <a:avLst/>
            <a:gdLst/>
            <a:ahLst/>
            <a:cxnLst/>
            <a:rect r="r" b="b" t="t" l="l"/>
            <a:pathLst>
              <a:path h="2741770" w="2751776">
                <a:moveTo>
                  <a:pt x="2751776" y="0"/>
                </a:moveTo>
                <a:lnTo>
                  <a:pt x="0" y="0"/>
                </a:lnTo>
                <a:lnTo>
                  <a:pt x="0" y="2741770"/>
                </a:lnTo>
                <a:lnTo>
                  <a:pt x="2751776" y="2741770"/>
                </a:lnTo>
                <a:lnTo>
                  <a:pt x="2751776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969597" y="4455179"/>
            <a:ext cx="8348806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4" indent="-377827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Tradução para </a:t>
            </a:r>
            <a:r>
              <a:rPr lang="en-US" b="true" sz="35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969597" y="5299729"/>
            <a:ext cx="8348806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4" indent="-377827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Análise de dependência em laços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969597" y="6144278"/>
            <a:ext cx="8348806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4" indent="-377827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Detecta laços </a:t>
            </a:r>
            <a:r>
              <a:rPr lang="en-US" b="true" sz="35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DOALL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969597" y="6988828"/>
            <a:ext cx="8348806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4" indent="-377827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Avalia correção e custo benefício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24272" y="1257046"/>
            <a:ext cx="15039457" cy="1883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352"/>
              </a:lnSpc>
            </a:pPr>
            <a:r>
              <a:rPr lang="en-US" sz="10966">
                <a:solidFill>
                  <a:srgbClr val="D02919"/>
                </a:solidFill>
                <a:latin typeface="Engravers' Old English BT"/>
                <a:ea typeface="Engravers' Old English BT"/>
                <a:cs typeface="Engravers' Old English BT"/>
                <a:sym typeface="Engravers' Old English BT"/>
              </a:rPr>
              <a:t>Paralelização Automática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394804" y="3237668"/>
            <a:ext cx="7498392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COMO O COMPILADOR DECIDE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2518505" y="8281053"/>
            <a:ext cx="13250990" cy="812799"/>
            <a:chOff x="0" y="0"/>
            <a:chExt cx="17667986" cy="1083732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313570"/>
              <a:ext cx="2503488" cy="5566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00"/>
                </a:lnSpc>
              </a:pPr>
              <a:r>
                <a:rPr lang="en-US" sz="2500">
                  <a:solidFill>
                    <a:srgbClr val="FFFFFF"/>
                  </a:solidFill>
                  <a:latin typeface="Bernoru UltraExpanded"/>
                  <a:ea typeface="Bernoru UltraExpanded"/>
                  <a:cs typeface="Bernoru UltraExpanded"/>
                  <a:sym typeface="Bernoru UltraExpanded"/>
                </a:rPr>
                <a:t>FONTE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7606640" y="323095"/>
              <a:ext cx="3358356" cy="547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Bernoru UltraExpanded"/>
                  <a:ea typeface="Bernoru UltraExpanded"/>
                  <a:cs typeface="Bernoru UltraExpanded"/>
                  <a:sym typeface="Bernoru UltraExpanded"/>
                </a:rPr>
                <a:t>ANÁLISE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13146655" y="-57150"/>
              <a:ext cx="4521331" cy="11408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00"/>
                </a:lnSpc>
              </a:pPr>
              <a:r>
                <a:rPr lang="en-US" sz="2500">
                  <a:solidFill>
                    <a:srgbClr val="FFFFFF"/>
                  </a:solidFill>
                  <a:latin typeface="Bernoru UltraExpanded"/>
                  <a:ea typeface="Bernoru UltraExpanded"/>
                  <a:cs typeface="Bernoru UltraExpanded"/>
                  <a:sym typeface="Bernoru UltraExpanded"/>
                </a:rPr>
                <a:t>PARALLEL/NOT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4685275" y="300494"/>
              <a:ext cx="739577" cy="5566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00"/>
                </a:lnSpc>
              </a:pPr>
              <a:r>
                <a:rPr lang="en-US" sz="2500">
                  <a:solidFill>
                    <a:srgbClr val="FFFFFF"/>
                  </a:solidFill>
                  <a:latin typeface="Bernoru UltraExpanded"/>
                  <a:ea typeface="Bernoru UltraExpanded"/>
                  <a:cs typeface="Bernoru UltraExpanded"/>
                  <a:sym typeface="Bernoru UltraExpanded"/>
                </a:rPr>
                <a:t>IR</a:t>
              </a:r>
            </a:p>
          </p:txBody>
        </p:sp>
        <p:grpSp>
          <p:nvGrpSpPr>
            <p:cNvPr name="Group 18" id="18"/>
            <p:cNvGrpSpPr/>
            <p:nvPr/>
          </p:nvGrpSpPr>
          <p:grpSpPr>
            <a:xfrm rot="0">
              <a:off x="11218996" y="300683"/>
              <a:ext cx="1673788" cy="525684"/>
              <a:chOff x="0" y="0"/>
              <a:chExt cx="2802287" cy="88011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22886" y="45720"/>
                <a:ext cx="2757720" cy="783590"/>
              </a:xfrm>
              <a:custGeom>
                <a:avLst/>
                <a:gdLst/>
                <a:ahLst/>
                <a:cxnLst/>
                <a:rect r="r" b="b" t="t" l="l"/>
                <a:pathLst>
                  <a:path h="783590" w="2757720">
                    <a:moveTo>
                      <a:pt x="13851" y="294640"/>
                    </a:moveTo>
                    <a:cubicBezTo>
                      <a:pt x="152972" y="317500"/>
                      <a:pt x="208379" y="314960"/>
                      <a:pt x="323410" y="317500"/>
                    </a:cubicBezTo>
                    <a:cubicBezTo>
                      <a:pt x="687171" y="322580"/>
                      <a:pt x="2490319" y="240030"/>
                      <a:pt x="2592702" y="322580"/>
                    </a:cubicBezTo>
                    <a:cubicBezTo>
                      <a:pt x="2601736" y="328930"/>
                      <a:pt x="2604747" y="336550"/>
                      <a:pt x="2604747" y="344170"/>
                    </a:cubicBezTo>
                    <a:cubicBezTo>
                      <a:pt x="2605350" y="353060"/>
                      <a:pt x="2597520" y="373380"/>
                      <a:pt x="2592702" y="373380"/>
                    </a:cubicBezTo>
                    <a:cubicBezTo>
                      <a:pt x="2587282" y="373380"/>
                      <a:pt x="2586077" y="347980"/>
                      <a:pt x="2574635" y="331470"/>
                    </a:cubicBezTo>
                    <a:cubicBezTo>
                      <a:pt x="2536693" y="274320"/>
                      <a:pt x="2321086" y="118110"/>
                      <a:pt x="2281939" y="68580"/>
                    </a:cubicBezTo>
                    <a:cubicBezTo>
                      <a:pt x="2271099" y="55880"/>
                      <a:pt x="2265076" y="48260"/>
                      <a:pt x="2263269" y="36830"/>
                    </a:cubicBezTo>
                    <a:cubicBezTo>
                      <a:pt x="2262065" y="29210"/>
                      <a:pt x="2263872" y="19050"/>
                      <a:pt x="2265678" y="13970"/>
                    </a:cubicBezTo>
                    <a:cubicBezTo>
                      <a:pt x="2268088" y="8890"/>
                      <a:pt x="2270496" y="6350"/>
                      <a:pt x="2275917" y="5080"/>
                    </a:cubicBezTo>
                    <a:cubicBezTo>
                      <a:pt x="2293382" y="2540"/>
                      <a:pt x="2345176" y="29210"/>
                      <a:pt x="2387334" y="57150"/>
                    </a:cubicBezTo>
                    <a:cubicBezTo>
                      <a:pt x="2446355" y="93980"/>
                      <a:pt x="2528261" y="177800"/>
                      <a:pt x="2592702" y="227330"/>
                    </a:cubicBezTo>
                    <a:cubicBezTo>
                      <a:pt x="2649916" y="269240"/>
                      <a:pt x="2749288" y="294640"/>
                      <a:pt x="2755311" y="336550"/>
                    </a:cubicBezTo>
                    <a:cubicBezTo>
                      <a:pt x="2757720" y="356870"/>
                      <a:pt x="2743266" y="379730"/>
                      <a:pt x="2730016" y="400050"/>
                    </a:cubicBezTo>
                    <a:cubicBezTo>
                      <a:pt x="2706528" y="435610"/>
                      <a:pt x="2652325" y="461010"/>
                      <a:pt x="2613179" y="497840"/>
                    </a:cubicBezTo>
                    <a:cubicBezTo>
                      <a:pt x="2572828" y="535940"/>
                      <a:pt x="2522841" y="586740"/>
                      <a:pt x="2492126" y="626110"/>
                    </a:cubicBezTo>
                    <a:cubicBezTo>
                      <a:pt x="2472251" y="651510"/>
                      <a:pt x="2452377" y="674370"/>
                      <a:pt x="2444548" y="695960"/>
                    </a:cubicBezTo>
                    <a:cubicBezTo>
                      <a:pt x="2440332" y="709930"/>
                      <a:pt x="2442741" y="722630"/>
                      <a:pt x="2439127" y="734060"/>
                    </a:cubicBezTo>
                    <a:cubicBezTo>
                      <a:pt x="2433105" y="751840"/>
                      <a:pt x="2416844" y="781050"/>
                      <a:pt x="2409617" y="782320"/>
                    </a:cubicBezTo>
                    <a:cubicBezTo>
                      <a:pt x="2405401" y="783590"/>
                      <a:pt x="2401186" y="778510"/>
                      <a:pt x="2399379" y="772160"/>
                    </a:cubicBezTo>
                    <a:cubicBezTo>
                      <a:pt x="2396970" y="765810"/>
                      <a:pt x="2396970" y="748030"/>
                      <a:pt x="2399379" y="741680"/>
                    </a:cubicBezTo>
                    <a:cubicBezTo>
                      <a:pt x="2402390" y="735330"/>
                      <a:pt x="2413833" y="732790"/>
                      <a:pt x="2416844" y="737870"/>
                    </a:cubicBezTo>
                    <a:cubicBezTo>
                      <a:pt x="2419855" y="744220"/>
                      <a:pt x="2420457" y="768350"/>
                      <a:pt x="2417446" y="774700"/>
                    </a:cubicBezTo>
                    <a:cubicBezTo>
                      <a:pt x="2415037" y="781050"/>
                      <a:pt x="2402992" y="781050"/>
                      <a:pt x="2399981" y="774700"/>
                    </a:cubicBezTo>
                    <a:cubicBezTo>
                      <a:pt x="2397572" y="769620"/>
                      <a:pt x="2396970" y="753110"/>
                      <a:pt x="2398776" y="744220"/>
                    </a:cubicBezTo>
                    <a:cubicBezTo>
                      <a:pt x="2401186" y="731520"/>
                      <a:pt x="2412628" y="726440"/>
                      <a:pt x="2417446" y="712470"/>
                    </a:cubicBezTo>
                    <a:cubicBezTo>
                      <a:pt x="2422867" y="698500"/>
                      <a:pt x="2421662" y="676910"/>
                      <a:pt x="2428889" y="659130"/>
                    </a:cubicBezTo>
                    <a:cubicBezTo>
                      <a:pt x="2439127" y="632460"/>
                      <a:pt x="2459002" y="608330"/>
                      <a:pt x="2480683" y="581660"/>
                    </a:cubicBezTo>
                    <a:cubicBezTo>
                      <a:pt x="2512602" y="541020"/>
                      <a:pt x="2561987" y="488950"/>
                      <a:pt x="2604145" y="450850"/>
                    </a:cubicBezTo>
                    <a:cubicBezTo>
                      <a:pt x="2646905" y="412750"/>
                      <a:pt x="2735437" y="349250"/>
                      <a:pt x="2736039" y="353060"/>
                    </a:cubicBezTo>
                    <a:cubicBezTo>
                      <a:pt x="2736039" y="353060"/>
                      <a:pt x="2730618" y="363220"/>
                      <a:pt x="2725198" y="364490"/>
                    </a:cubicBezTo>
                    <a:cubicBezTo>
                      <a:pt x="2713153" y="368300"/>
                      <a:pt x="2689063" y="349250"/>
                      <a:pt x="2660155" y="330200"/>
                    </a:cubicBezTo>
                    <a:cubicBezTo>
                      <a:pt x="2598725" y="289560"/>
                      <a:pt x="2449968" y="153670"/>
                      <a:pt x="2381311" y="105410"/>
                    </a:cubicBezTo>
                    <a:cubicBezTo>
                      <a:pt x="2342165" y="77470"/>
                      <a:pt x="2306029" y="50800"/>
                      <a:pt x="2287359" y="48260"/>
                    </a:cubicBezTo>
                    <a:cubicBezTo>
                      <a:pt x="2279530" y="48260"/>
                      <a:pt x="2274712" y="58420"/>
                      <a:pt x="2270496" y="54610"/>
                    </a:cubicBezTo>
                    <a:cubicBezTo>
                      <a:pt x="2266883" y="50800"/>
                      <a:pt x="2262065" y="33020"/>
                      <a:pt x="2263269" y="25400"/>
                    </a:cubicBezTo>
                    <a:cubicBezTo>
                      <a:pt x="2263872" y="16510"/>
                      <a:pt x="2268690" y="6350"/>
                      <a:pt x="2275917" y="5080"/>
                    </a:cubicBezTo>
                    <a:cubicBezTo>
                      <a:pt x="2305427" y="0"/>
                      <a:pt x="2443945" y="156210"/>
                      <a:pt x="2502966" y="217170"/>
                    </a:cubicBezTo>
                    <a:cubicBezTo>
                      <a:pt x="2542113" y="256540"/>
                      <a:pt x="2586077" y="294640"/>
                      <a:pt x="2598725" y="325120"/>
                    </a:cubicBezTo>
                    <a:cubicBezTo>
                      <a:pt x="2603543" y="336550"/>
                      <a:pt x="2605350" y="347980"/>
                      <a:pt x="2604145" y="356870"/>
                    </a:cubicBezTo>
                    <a:cubicBezTo>
                      <a:pt x="2602941" y="364490"/>
                      <a:pt x="2600531" y="368300"/>
                      <a:pt x="2592702" y="373380"/>
                    </a:cubicBezTo>
                    <a:cubicBezTo>
                      <a:pt x="2488512" y="441960"/>
                      <a:pt x="352920" y="387350"/>
                      <a:pt x="93951" y="360680"/>
                    </a:cubicBezTo>
                    <a:cubicBezTo>
                      <a:pt x="45771" y="356870"/>
                      <a:pt x="21681" y="361950"/>
                      <a:pt x="9033" y="344170"/>
                    </a:cubicBezTo>
                    <a:cubicBezTo>
                      <a:pt x="3613" y="336550"/>
                      <a:pt x="0" y="322580"/>
                      <a:pt x="1204" y="314960"/>
                    </a:cubicBezTo>
                    <a:cubicBezTo>
                      <a:pt x="1806" y="307340"/>
                      <a:pt x="13851" y="294640"/>
                      <a:pt x="13851" y="294640"/>
                    </a:cubicBezTo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20" id="20"/>
            <p:cNvGrpSpPr/>
            <p:nvPr/>
          </p:nvGrpSpPr>
          <p:grpSpPr>
            <a:xfrm rot="0">
              <a:off x="5678852" y="357644"/>
              <a:ext cx="1673788" cy="525684"/>
              <a:chOff x="0" y="0"/>
              <a:chExt cx="2802287" cy="88011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22886" y="45720"/>
                <a:ext cx="2757720" cy="783590"/>
              </a:xfrm>
              <a:custGeom>
                <a:avLst/>
                <a:gdLst/>
                <a:ahLst/>
                <a:cxnLst/>
                <a:rect r="r" b="b" t="t" l="l"/>
                <a:pathLst>
                  <a:path h="783590" w="2757720">
                    <a:moveTo>
                      <a:pt x="13851" y="294640"/>
                    </a:moveTo>
                    <a:cubicBezTo>
                      <a:pt x="152972" y="317500"/>
                      <a:pt x="208379" y="314960"/>
                      <a:pt x="323410" y="317500"/>
                    </a:cubicBezTo>
                    <a:cubicBezTo>
                      <a:pt x="687171" y="322580"/>
                      <a:pt x="2490319" y="240030"/>
                      <a:pt x="2592702" y="322580"/>
                    </a:cubicBezTo>
                    <a:cubicBezTo>
                      <a:pt x="2601736" y="328930"/>
                      <a:pt x="2604747" y="336550"/>
                      <a:pt x="2604747" y="344170"/>
                    </a:cubicBezTo>
                    <a:cubicBezTo>
                      <a:pt x="2605350" y="353060"/>
                      <a:pt x="2597520" y="373380"/>
                      <a:pt x="2592702" y="373380"/>
                    </a:cubicBezTo>
                    <a:cubicBezTo>
                      <a:pt x="2587282" y="373380"/>
                      <a:pt x="2586077" y="347980"/>
                      <a:pt x="2574635" y="331470"/>
                    </a:cubicBezTo>
                    <a:cubicBezTo>
                      <a:pt x="2536693" y="274320"/>
                      <a:pt x="2321086" y="118110"/>
                      <a:pt x="2281939" y="68580"/>
                    </a:cubicBezTo>
                    <a:cubicBezTo>
                      <a:pt x="2271099" y="55880"/>
                      <a:pt x="2265076" y="48260"/>
                      <a:pt x="2263269" y="36830"/>
                    </a:cubicBezTo>
                    <a:cubicBezTo>
                      <a:pt x="2262065" y="29210"/>
                      <a:pt x="2263872" y="19050"/>
                      <a:pt x="2265678" y="13970"/>
                    </a:cubicBezTo>
                    <a:cubicBezTo>
                      <a:pt x="2268088" y="8890"/>
                      <a:pt x="2270496" y="6350"/>
                      <a:pt x="2275917" y="5080"/>
                    </a:cubicBezTo>
                    <a:cubicBezTo>
                      <a:pt x="2293382" y="2540"/>
                      <a:pt x="2345176" y="29210"/>
                      <a:pt x="2387334" y="57150"/>
                    </a:cubicBezTo>
                    <a:cubicBezTo>
                      <a:pt x="2446355" y="93980"/>
                      <a:pt x="2528261" y="177800"/>
                      <a:pt x="2592702" y="227330"/>
                    </a:cubicBezTo>
                    <a:cubicBezTo>
                      <a:pt x="2649916" y="269240"/>
                      <a:pt x="2749288" y="294640"/>
                      <a:pt x="2755311" y="336550"/>
                    </a:cubicBezTo>
                    <a:cubicBezTo>
                      <a:pt x="2757720" y="356870"/>
                      <a:pt x="2743266" y="379730"/>
                      <a:pt x="2730016" y="400050"/>
                    </a:cubicBezTo>
                    <a:cubicBezTo>
                      <a:pt x="2706528" y="435610"/>
                      <a:pt x="2652325" y="461010"/>
                      <a:pt x="2613179" y="497840"/>
                    </a:cubicBezTo>
                    <a:cubicBezTo>
                      <a:pt x="2572828" y="535940"/>
                      <a:pt x="2522841" y="586740"/>
                      <a:pt x="2492126" y="626110"/>
                    </a:cubicBezTo>
                    <a:cubicBezTo>
                      <a:pt x="2472251" y="651510"/>
                      <a:pt x="2452377" y="674370"/>
                      <a:pt x="2444548" y="695960"/>
                    </a:cubicBezTo>
                    <a:cubicBezTo>
                      <a:pt x="2440332" y="709930"/>
                      <a:pt x="2442741" y="722630"/>
                      <a:pt x="2439127" y="734060"/>
                    </a:cubicBezTo>
                    <a:cubicBezTo>
                      <a:pt x="2433105" y="751840"/>
                      <a:pt x="2416844" y="781050"/>
                      <a:pt x="2409617" y="782320"/>
                    </a:cubicBezTo>
                    <a:cubicBezTo>
                      <a:pt x="2405401" y="783590"/>
                      <a:pt x="2401186" y="778510"/>
                      <a:pt x="2399379" y="772160"/>
                    </a:cubicBezTo>
                    <a:cubicBezTo>
                      <a:pt x="2396970" y="765810"/>
                      <a:pt x="2396970" y="748030"/>
                      <a:pt x="2399379" y="741680"/>
                    </a:cubicBezTo>
                    <a:cubicBezTo>
                      <a:pt x="2402390" y="735330"/>
                      <a:pt x="2413833" y="732790"/>
                      <a:pt x="2416844" y="737870"/>
                    </a:cubicBezTo>
                    <a:cubicBezTo>
                      <a:pt x="2419855" y="744220"/>
                      <a:pt x="2420457" y="768350"/>
                      <a:pt x="2417446" y="774700"/>
                    </a:cubicBezTo>
                    <a:cubicBezTo>
                      <a:pt x="2415037" y="781050"/>
                      <a:pt x="2402992" y="781050"/>
                      <a:pt x="2399981" y="774700"/>
                    </a:cubicBezTo>
                    <a:cubicBezTo>
                      <a:pt x="2397572" y="769620"/>
                      <a:pt x="2396970" y="753110"/>
                      <a:pt x="2398776" y="744220"/>
                    </a:cubicBezTo>
                    <a:cubicBezTo>
                      <a:pt x="2401186" y="731520"/>
                      <a:pt x="2412628" y="726440"/>
                      <a:pt x="2417446" y="712470"/>
                    </a:cubicBezTo>
                    <a:cubicBezTo>
                      <a:pt x="2422867" y="698500"/>
                      <a:pt x="2421662" y="676910"/>
                      <a:pt x="2428889" y="659130"/>
                    </a:cubicBezTo>
                    <a:cubicBezTo>
                      <a:pt x="2439127" y="632460"/>
                      <a:pt x="2459002" y="608330"/>
                      <a:pt x="2480683" y="581660"/>
                    </a:cubicBezTo>
                    <a:cubicBezTo>
                      <a:pt x="2512602" y="541020"/>
                      <a:pt x="2561987" y="488950"/>
                      <a:pt x="2604145" y="450850"/>
                    </a:cubicBezTo>
                    <a:cubicBezTo>
                      <a:pt x="2646905" y="412750"/>
                      <a:pt x="2735437" y="349250"/>
                      <a:pt x="2736039" y="353060"/>
                    </a:cubicBezTo>
                    <a:cubicBezTo>
                      <a:pt x="2736039" y="353060"/>
                      <a:pt x="2730618" y="363220"/>
                      <a:pt x="2725198" y="364490"/>
                    </a:cubicBezTo>
                    <a:cubicBezTo>
                      <a:pt x="2713153" y="368300"/>
                      <a:pt x="2689063" y="349250"/>
                      <a:pt x="2660155" y="330200"/>
                    </a:cubicBezTo>
                    <a:cubicBezTo>
                      <a:pt x="2598725" y="289560"/>
                      <a:pt x="2449968" y="153670"/>
                      <a:pt x="2381311" y="105410"/>
                    </a:cubicBezTo>
                    <a:cubicBezTo>
                      <a:pt x="2342165" y="77470"/>
                      <a:pt x="2306029" y="50800"/>
                      <a:pt x="2287359" y="48260"/>
                    </a:cubicBezTo>
                    <a:cubicBezTo>
                      <a:pt x="2279530" y="48260"/>
                      <a:pt x="2274712" y="58420"/>
                      <a:pt x="2270496" y="54610"/>
                    </a:cubicBezTo>
                    <a:cubicBezTo>
                      <a:pt x="2266883" y="50800"/>
                      <a:pt x="2262065" y="33020"/>
                      <a:pt x="2263269" y="25400"/>
                    </a:cubicBezTo>
                    <a:cubicBezTo>
                      <a:pt x="2263872" y="16510"/>
                      <a:pt x="2268690" y="6350"/>
                      <a:pt x="2275917" y="5080"/>
                    </a:cubicBezTo>
                    <a:cubicBezTo>
                      <a:pt x="2305427" y="0"/>
                      <a:pt x="2443945" y="156210"/>
                      <a:pt x="2502966" y="217170"/>
                    </a:cubicBezTo>
                    <a:cubicBezTo>
                      <a:pt x="2542113" y="256540"/>
                      <a:pt x="2586077" y="294640"/>
                      <a:pt x="2598725" y="325120"/>
                    </a:cubicBezTo>
                    <a:cubicBezTo>
                      <a:pt x="2603543" y="336550"/>
                      <a:pt x="2605350" y="347980"/>
                      <a:pt x="2604145" y="356870"/>
                    </a:cubicBezTo>
                    <a:cubicBezTo>
                      <a:pt x="2602941" y="364490"/>
                      <a:pt x="2600531" y="368300"/>
                      <a:pt x="2592702" y="373380"/>
                    </a:cubicBezTo>
                    <a:cubicBezTo>
                      <a:pt x="2488512" y="441960"/>
                      <a:pt x="352920" y="387350"/>
                      <a:pt x="93951" y="360680"/>
                    </a:cubicBezTo>
                    <a:cubicBezTo>
                      <a:pt x="45771" y="356870"/>
                      <a:pt x="21681" y="361950"/>
                      <a:pt x="9033" y="344170"/>
                    </a:cubicBezTo>
                    <a:cubicBezTo>
                      <a:pt x="3613" y="336550"/>
                      <a:pt x="0" y="322580"/>
                      <a:pt x="1204" y="314960"/>
                    </a:cubicBezTo>
                    <a:cubicBezTo>
                      <a:pt x="1806" y="307340"/>
                      <a:pt x="13851" y="294640"/>
                      <a:pt x="13851" y="294640"/>
                    </a:cubicBezTo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22" id="22"/>
            <p:cNvGrpSpPr/>
            <p:nvPr/>
          </p:nvGrpSpPr>
          <p:grpSpPr>
            <a:xfrm rot="0">
              <a:off x="2757488" y="357644"/>
              <a:ext cx="1673788" cy="525684"/>
              <a:chOff x="0" y="0"/>
              <a:chExt cx="2802287" cy="88011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22886" y="45720"/>
                <a:ext cx="2757720" cy="783590"/>
              </a:xfrm>
              <a:custGeom>
                <a:avLst/>
                <a:gdLst/>
                <a:ahLst/>
                <a:cxnLst/>
                <a:rect r="r" b="b" t="t" l="l"/>
                <a:pathLst>
                  <a:path h="783590" w="2757720">
                    <a:moveTo>
                      <a:pt x="13851" y="294640"/>
                    </a:moveTo>
                    <a:cubicBezTo>
                      <a:pt x="152972" y="317500"/>
                      <a:pt x="208379" y="314960"/>
                      <a:pt x="323410" y="317500"/>
                    </a:cubicBezTo>
                    <a:cubicBezTo>
                      <a:pt x="687171" y="322580"/>
                      <a:pt x="2490319" y="240030"/>
                      <a:pt x="2592702" y="322580"/>
                    </a:cubicBezTo>
                    <a:cubicBezTo>
                      <a:pt x="2601736" y="328930"/>
                      <a:pt x="2604747" y="336550"/>
                      <a:pt x="2604747" y="344170"/>
                    </a:cubicBezTo>
                    <a:cubicBezTo>
                      <a:pt x="2605350" y="353060"/>
                      <a:pt x="2597520" y="373380"/>
                      <a:pt x="2592702" y="373380"/>
                    </a:cubicBezTo>
                    <a:cubicBezTo>
                      <a:pt x="2587282" y="373380"/>
                      <a:pt x="2586077" y="347980"/>
                      <a:pt x="2574635" y="331470"/>
                    </a:cubicBezTo>
                    <a:cubicBezTo>
                      <a:pt x="2536693" y="274320"/>
                      <a:pt x="2321086" y="118110"/>
                      <a:pt x="2281939" y="68580"/>
                    </a:cubicBezTo>
                    <a:cubicBezTo>
                      <a:pt x="2271099" y="55880"/>
                      <a:pt x="2265076" y="48260"/>
                      <a:pt x="2263269" y="36830"/>
                    </a:cubicBezTo>
                    <a:cubicBezTo>
                      <a:pt x="2262065" y="29210"/>
                      <a:pt x="2263872" y="19050"/>
                      <a:pt x="2265678" y="13970"/>
                    </a:cubicBezTo>
                    <a:cubicBezTo>
                      <a:pt x="2268088" y="8890"/>
                      <a:pt x="2270496" y="6350"/>
                      <a:pt x="2275917" y="5080"/>
                    </a:cubicBezTo>
                    <a:cubicBezTo>
                      <a:pt x="2293382" y="2540"/>
                      <a:pt x="2345176" y="29210"/>
                      <a:pt x="2387334" y="57150"/>
                    </a:cubicBezTo>
                    <a:cubicBezTo>
                      <a:pt x="2446355" y="93980"/>
                      <a:pt x="2528261" y="177800"/>
                      <a:pt x="2592702" y="227330"/>
                    </a:cubicBezTo>
                    <a:cubicBezTo>
                      <a:pt x="2649916" y="269240"/>
                      <a:pt x="2749288" y="294640"/>
                      <a:pt x="2755311" y="336550"/>
                    </a:cubicBezTo>
                    <a:cubicBezTo>
                      <a:pt x="2757720" y="356870"/>
                      <a:pt x="2743266" y="379730"/>
                      <a:pt x="2730016" y="400050"/>
                    </a:cubicBezTo>
                    <a:cubicBezTo>
                      <a:pt x="2706528" y="435610"/>
                      <a:pt x="2652325" y="461010"/>
                      <a:pt x="2613179" y="497840"/>
                    </a:cubicBezTo>
                    <a:cubicBezTo>
                      <a:pt x="2572828" y="535940"/>
                      <a:pt x="2522841" y="586740"/>
                      <a:pt x="2492126" y="626110"/>
                    </a:cubicBezTo>
                    <a:cubicBezTo>
                      <a:pt x="2472251" y="651510"/>
                      <a:pt x="2452377" y="674370"/>
                      <a:pt x="2444548" y="695960"/>
                    </a:cubicBezTo>
                    <a:cubicBezTo>
                      <a:pt x="2440332" y="709930"/>
                      <a:pt x="2442741" y="722630"/>
                      <a:pt x="2439127" y="734060"/>
                    </a:cubicBezTo>
                    <a:cubicBezTo>
                      <a:pt x="2433105" y="751840"/>
                      <a:pt x="2416844" y="781050"/>
                      <a:pt x="2409617" y="782320"/>
                    </a:cubicBezTo>
                    <a:cubicBezTo>
                      <a:pt x="2405401" y="783590"/>
                      <a:pt x="2401186" y="778510"/>
                      <a:pt x="2399379" y="772160"/>
                    </a:cubicBezTo>
                    <a:cubicBezTo>
                      <a:pt x="2396970" y="765810"/>
                      <a:pt x="2396970" y="748030"/>
                      <a:pt x="2399379" y="741680"/>
                    </a:cubicBezTo>
                    <a:cubicBezTo>
                      <a:pt x="2402390" y="735330"/>
                      <a:pt x="2413833" y="732790"/>
                      <a:pt x="2416844" y="737870"/>
                    </a:cubicBezTo>
                    <a:cubicBezTo>
                      <a:pt x="2419855" y="744220"/>
                      <a:pt x="2420457" y="768350"/>
                      <a:pt x="2417446" y="774700"/>
                    </a:cubicBezTo>
                    <a:cubicBezTo>
                      <a:pt x="2415037" y="781050"/>
                      <a:pt x="2402992" y="781050"/>
                      <a:pt x="2399981" y="774700"/>
                    </a:cubicBezTo>
                    <a:cubicBezTo>
                      <a:pt x="2397572" y="769620"/>
                      <a:pt x="2396970" y="753110"/>
                      <a:pt x="2398776" y="744220"/>
                    </a:cubicBezTo>
                    <a:cubicBezTo>
                      <a:pt x="2401186" y="731520"/>
                      <a:pt x="2412628" y="726440"/>
                      <a:pt x="2417446" y="712470"/>
                    </a:cubicBezTo>
                    <a:cubicBezTo>
                      <a:pt x="2422867" y="698500"/>
                      <a:pt x="2421662" y="676910"/>
                      <a:pt x="2428889" y="659130"/>
                    </a:cubicBezTo>
                    <a:cubicBezTo>
                      <a:pt x="2439127" y="632460"/>
                      <a:pt x="2459002" y="608330"/>
                      <a:pt x="2480683" y="581660"/>
                    </a:cubicBezTo>
                    <a:cubicBezTo>
                      <a:pt x="2512602" y="541020"/>
                      <a:pt x="2561987" y="488950"/>
                      <a:pt x="2604145" y="450850"/>
                    </a:cubicBezTo>
                    <a:cubicBezTo>
                      <a:pt x="2646905" y="412750"/>
                      <a:pt x="2735437" y="349250"/>
                      <a:pt x="2736039" y="353060"/>
                    </a:cubicBezTo>
                    <a:cubicBezTo>
                      <a:pt x="2736039" y="353060"/>
                      <a:pt x="2730618" y="363220"/>
                      <a:pt x="2725198" y="364490"/>
                    </a:cubicBezTo>
                    <a:cubicBezTo>
                      <a:pt x="2713153" y="368300"/>
                      <a:pt x="2689063" y="349250"/>
                      <a:pt x="2660155" y="330200"/>
                    </a:cubicBezTo>
                    <a:cubicBezTo>
                      <a:pt x="2598725" y="289560"/>
                      <a:pt x="2449968" y="153670"/>
                      <a:pt x="2381311" y="105410"/>
                    </a:cubicBezTo>
                    <a:cubicBezTo>
                      <a:pt x="2342165" y="77470"/>
                      <a:pt x="2306029" y="50800"/>
                      <a:pt x="2287359" y="48260"/>
                    </a:cubicBezTo>
                    <a:cubicBezTo>
                      <a:pt x="2279530" y="48260"/>
                      <a:pt x="2274712" y="58420"/>
                      <a:pt x="2270496" y="54610"/>
                    </a:cubicBezTo>
                    <a:cubicBezTo>
                      <a:pt x="2266883" y="50800"/>
                      <a:pt x="2262065" y="33020"/>
                      <a:pt x="2263269" y="25400"/>
                    </a:cubicBezTo>
                    <a:cubicBezTo>
                      <a:pt x="2263872" y="16510"/>
                      <a:pt x="2268690" y="6350"/>
                      <a:pt x="2275917" y="5080"/>
                    </a:cubicBezTo>
                    <a:cubicBezTo>
                      <a:pt x="2305427" y="0"/>
                      <a:pt x="2443945" y="156210"/>
                      <a:pt x="2502966" y="217170"/>
                    </a:cubicBezTo>
                    <a:cubicBezTo>
                      <a:pt x="2542113" y="256540"/>
                      <a:pt x="2586077" y="294640"/>
                      <a:pt x="2598725" y="325120"/>
                    </a:cubicBezTo>
                    <a:cubicBezTo>
                      <a:pt x="2603543" y="336550"/>
                      <a:pt x="2605350" y="347980"/>
                      <a:pt x="2604145" y="356870"/>
                    </a:cubicBezTo>
                    <a:cubicBezTo>
                      <a:pt x="2602941" y="364490"/>
                      <a:pt x="2600531" y="368300"/>
                      <a:pt x="2592702" y="373380"/>
                    </a:cubicBezTo>
                    <a:cubicBezTo>
                      <a:pt x="2488512" y="441960"/>
                      <a:pt x="352920" y="387350"/>
                      <a:pt x="93951" y="360680"/>
                    </a:cubicBezTo>
                    <a:cubicBezTo>
                      <a:pt x="45771" y="356870"/>
                      <a:pt x="21681" y="361950"/>
                      <a:pt x="9033" y="344170"/>
                    </a:cubicBezTo>
                    <a:cubicBezTo>
                      <a:pt x="3613" y="336550"/>
                      <a:pt x="0" y="322580"/>
                      <a:pt x="1204" y="314960"/>
                    </a:cubicBezTo>
                    <a:cubicBezTo>
                      <a:pt x="1806" y="307340"/>
                      <a:pt x="13851" y="294640"/>
                      <a:pt x="13851" y="294640"/>
                    </a:cubicBezTo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</p:grpSp>
      </p:grpSp>
    </p:spTree>
  </p:cSld>
  <p:clrMapOvr>
    <a:masterClrMapping/>
  </p:clrMapOvr>
  <p:transition spd="fast">
    <p:fade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3088931" y="9466432"/>
            <a:ext cx="24438779" cy="20925704"/>
          </a:xfrm>
          <a:custGeom>
            <a:avLst/>
            <a:gdLst/>
            <a:ahLst/>
            <a:cxnLst/>
            <a:rect r="r" b="b" t="t" l="l"/>
            <a:pathLst>
              <a:path h="20925704" w="24438779">
                <a:moveTo>
                  <a:pt x="24438779" y="0"/>
                </a:moveTo>
                <a:lnTo>
                  <a:pt x="0" y="0"/>
                </a:lnTo>
                <a:lnTo>
                  <a:pt x="0" y="20925705"/>
                </a:lnTo>
                <a:lnTo>
                  <a:pt x="24438779" y="20925705"/>
                </a:lnTo>
                <a:lnTo>
                  <a:pt x="24438779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634471" y="8473251"/>
            <a:ext cx="1249657" cy="1184050"/>
          </a:xfrm>
          <a:custGeom>
            <a:avLst/>
            <a:gdLst/>
            <a:ahLst/>
            <a:cxnLst/>
            <a:rect r="r" b="b" t="t" l="l"/>
            <a:pathLst>
              <a:path h="1184050" w="1249657">
                <a:moveTo>
                  <a:pt x="0" y="0"/>
                </a:moveTo>
                <a:lnTo>
                  <a:pt x="1249658" y="0"/>
                </a:lnTo>
                <a:lnTo>
                  <a:pt x="1249658" y="1184051"/>
                </a:lnTo>
                <a:lnTo>
                  <a:pt x="0" y="118405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7467113">
            <a:off x="-1425371" y="-3611885"/>
            <a:ext cx="2850742" cy="6478959"/>
          </a:xfrm>
          <a:custGeom>
            <a:avLst/>
            <a:gdLst/>
            <a:ahLst/>
            <a:cxnLst/>
            <a:rect r="r" b="b" t="t" l="l"/>
            <a:pathLst>
              <a:path h="6478959" w="2850742">
                <a:moveTo>
                  <a:pt x="0" y="0"/>
                </a:moveTo>
                <a:lnTo>
                  <a:pt x="2850742" y="0"/>
                </a:lnTo>
                <a:lnTo>
                  <a:pt x="2850742" y="6478958"/>
                </a:lnTo>
                <a:lnTo>
                  <a:pt x="0" y="64789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443117" y="0"/>
            <a:ext cx="6802647" cy="420527"/>
          </a:xfrm>
          <a:custGeom>
            <a:avLst/>
            <a:gdLst/>
            <a:ahLst/>
            <a:cxnLst/>
            <a:rect r="r" b="b" t="t" l="l"/>
            <a:pathLst>
              <a:path h="420527" w="6802647">
                <a:moveTo>
                  <a:pt x="0" y="0"/>
                </a:moveTo>
                <a:lnTo>
                  <a:pt x="6802647" y="0"/>
                </a:lnTo>
                <a:lnTo>
                  <a:pt x="6802647" y="420527"/>
                </a:lnTo>
                <a:lnTo>
                  <a:pt x="0" y="4205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-1204442" y="8801506"/>
            <a:ext cx="2751776" cy="2741770"/>
          </a:xfrm>
          <a:custGeom>
            <a:avLst/>
            <a:gdLst/>
            <a:ahLst/>
            <a:cxnLst/>
            <a:rect r="r" b="b" t="t" l="l"/>
            <a:pathLst>
              <a:path h="2741770" w="2751776">
                <a:moveTo>
                  <a:pt x="2751776" y="0"/>
                </a:moveTo>
                <a:lnTo>
                  <a:pt x="0" y="0"/>
                </a:lnTo>
                <a:lnTo>
                  <a:pt x="0" y="2741770"/>
                </a:lnTo>
                <a:lnTo>
                  <a:pt x="2751776" y="2741770"/>
                </a:lnTo>
                <a:lnTo>
                  <a:pt x="2751776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24272" y="1257046"/>
            <a:ext cx="15039457" cy="1883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352"/>
              </a:lnSpc>
            </a:pPr>
            <a:r>
              <a:rPr lang="en-US" sz="10966">
                <a:solidFill>
                  <a:srgbClr val="D02919"/>
                </a:solidFill>
                <a:latin typeface="Engravers' Old English BT"/>
                <a:ea typeface="Engravers' Old English BT"/>
                <a:cs typeface="Engravers' Old English BT"/>
                <a:sym typeface="Engravers' Old English BT"/>
              </a:rPr>
              <a:t>Paralelização Automática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394804" y="3237668"/>
            <a:ext cx="7498392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DEPENDÊNCIA E DOALL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2927449" y="5948224"/>
            <a:ext cx="10244609" cy="3281273"/>
            <a:chOff x="0" y="0"/>
            <a:chExt cx="13659479" cy="4375031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2814550" y="0"/>
              <a:ext cx="10844929" cy="4375031"/>
              <a:chOff x="0" y="0"/>
              <a:chExt cx="2857324" cy="1152693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2857324" cy="1152693"/>
              </a:xfrm>
              <a:custGeom>
                <a:avLst/>
                <a:gdLst/>
                <a:ahLst/>
                <a:cxnLst/>
                <a:rect r="r" b="b" t="t" l="l"/>
                <a:pathLst>
                  <a:path h="1152693" w="2857324">
                    <a:moveTo>
                      <a:pt x="28555" y="0"/>
                    </a:moveTo>
                    <a:lnTo>
                      <a:pt x="2828769" y="0"/>
                    </a:lnTo>
                    <a:cubicBezTo>
                      <a:pt x="2844539" y="0"/>
                      <a:pt x="2857324" y="12785"/>
                      <a:pt x="2857324" y="28555"/>
                    </a:cubicBezTo>
                    <a:lnTo>
                      <a:pt x="2857324" y="1124139"/>
                    </a:lnTo>
                    <a:cubicBezTo>
                      <a:pt x="2857324" y="1131712"/>
                      <a:pt x="2854315" y="1138975"/>
                      <a:pt x="2848960" y="1144330"/>
                    </a:cubicBezTo>
                    <a:cubicBezTo>
                      <a:pt x="2843605" y="1149685"/>
                      <a:pt x="2836342" y="1152693"/>
                      <a:pt x="2828769" y="1152693"/>
                    </a:cubicBezTo>
                    <a:lnTo>
                      <a:pt x="28555" y="1152693"/>
                    </a:lnTo>
                    <a:cubicBezTo>
                      <a:pt x="12785" y="1152693"/>
                      <a:pt x="0" y="1139909"/>
                      <a:pt x="0" y="1124139"/>
                    </a:cubicBezTo>
                    <a:lnTo>
                      <a:pt x="0" y="28555"/>
                    </a:lnTo>
                    <a:cubicBezTo>
                      <a:pt x="0" y="20982"/>
                      <a:pt x="3008" y="13719"/>
                      <a:pt x="8364" y="8364"/>
                    </a:cubicBezTo>
                    <a:cubicBezTo>
                      <a:pt x="13719" y="3008"/>
                      <a:pt x="20982" y="0"/>
                      <a:pt x="28555" y="0"/>
                    </a:cubicBezTo>
                    <a:close/>
                  </a:path>
                </a:pathLst>
              </a:custGeom>
              <a:solidFill>
                <a:srgbClr val="B60F0A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47625"/>
                <a:ext cx="2857324" cy="120031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3216811" y="309159"/>
              <a:ext cx="10143847" cy="36816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73"/>
                </a:lnSpc>
              </a:pPr>
              <a:r>
                <a:rPr lang="en-US" sz="2624" b="true">
                  <a:solidFill>
                    <a:srgbClr val="999999"/>
                  </a:solidFill>
                  <a:latin typeface="Anca Coder Bold"/>
                  <a:ea typeface="Anca Coder Bold"/>
                  <a:cs typeface="Anca Coder Bold"/>
                  <a:sym typeface="Anca Coder Bold"/>
                </a:rPr>
                <a:t>// DOALL (independente)</a:t>
              </a:r>
            </a:p>
            <a:p>
              <a:pPr algn="l">
                <a:lnSpc>
                  <a:spcPts val="3673"/>
                </a:lnSpc>
                <a:spcBef>
                  <a:spcPct val="0"/>
                </a:spcBef>
              </a:pPr>
              <a:r>
                <a:rPr lang="en-US" b="true" sz="2624">
                  <a:solidFill>
                    <a:srgbClr val="FFFFFF"/>
                  </a:solidFill>
                  <a:latin typeface="Anca Coder Bold"/>
                  <a:ea typeface="Anca Coder Bold"/>
                  <a:cs typeface="Anca Coder Bold"/>
                  <a:sym typeface="Anca Coder Bold"/>
                </a:rPr>
                <a:t>f</a:t>
              </a:r>
              <a:r>
                <a:rPr lang="en-US" b="true" sz="2624">
                  <a:solidFill>
                    <a:srgbClr val="FFFFFF"/>
                  </a:solidFill>
                  <a:latin typeface="Anca Coder Bold"/>
                  <a:ea typeface="Anca Coder Bold"/>
                  <a:cs typeface="Anca Coder Bold"/>
                  <a:sym typeface="Anca Coder Bold"/>
                </a:rPr>
                <a:t>or (int i=0;i&lt;n;++i) z[i]=x[i]+y[i];</a:t>
              </a:r>
            </a:p>
            <a:p>
              <a:pPr algn="l">
                <a:lnSpc>
                  <a:spcPts val="3673"/>
                </a:lnSpc>
                <a:spcBef>
                  <a:spcPct val="0"/>
                </a:spcBef>
              </a:pPr>
            </a:p>
            <a:p>
              <a:pPr algn="l">
                <a:lnSpc>
                  <a:spcPts val="3673"/>
                </a:lnSpc>
                <a:spcBef>
                  <a:spcPct val="0"/>
                </a:spcBef>
              </a:pPr>
              <a:r>
                <a:rPr lang="en-US" b="true" sz="2624">
                  <a:solidFill>
                    <a:srgbClr val="999999"/>
                  </a:solidFill>
                  <a:latin typeface="Anca Coder Bold"/>
                  <a:ea typeface="Anca Coder Bold"/>
                  <a:cs typeface="Anca Coder Bold"/>
                  <a:sym typeface="Anca Coder Bold"/>
                </a:rPr>
                <a:t>// NÃO DOALL (carrega dep.)</a:t>
              </a:r>
            </a:p>
            <a:p>
              <a:pPr algn="l">
                <a:lnSpc>
                  <a:spcPts val="3673"/>
                </a:lnSpc>
                <a:spcBef>
                  <a:spcPct val="0"/>
                </a:spcBef>
              </a:pPr>
              <a:r>
                <a:rPr lang="en-US" b="true" sz="2624">
                  <a:solidFill>
                    <a:srgbClr val="FFFFFF"/>
                  </a:solidFill>
                  <a:latin typeface="Anca Coder Bold"/>
                  <a:ea typeface="Anca Coder Bold"/>
                  <a:cs typeface="Anca Coder Bold"/>
                  <a:sym typeface="Anca Coder Bold"/>
                </a:rPr>
                <a:t>for (int i=1;i&lt;n;++i) a[i]=a[i-1]+1;</a:t>
              </a:r>
            </a:p>
            <a:p>
              <a:pPr algn="l">
                <a:lnSpc>
                  <a:spcPts val="3673"/>
                </a:lnSpc>
                <a:spcBef>
                  <a:spcPct val="0"/>
                </a:spcBef>
              </a:pP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76200"/>
              <a:ext cx="1846064" cy="7831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755651" indent="-377825" lvl="1">
                <a:lnSpc>
                  <a:spcPts val="4900"/>
                </a:lnSpc>
                <a:buFont typeface="Arial"/>
                <a:buChar char="•"/>
              </a:pPr>
              <a:r>
                <a:rPr lang="en-US" sz="35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Ex: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927449" y="4179509"/>
            <a:ext cx="10764441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True/fluxo (RAW), Anti (WAR), Output (WAW)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927449" y="5027474"/>
            <a:ext cx="12433102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Laço DOALL: nenhuma dependência entre iterações</a:t>
            </a:r>
          </a:p>
        </p:txBody>
      </p:sp>
    </p:spTree>
  </p:cSld>
  <p:clrMapOvr>
    <a:masterClrMapping/>
  </p:clrMapOvr>
  <p:transition spd="fast">
    <p:push dir="l"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710518">
            <a:off x="15643309" y="-5173073"/>
            <a:ext cx="8254861" cy="7068225"/>
          </a:xfrm>
          <a:custGeom>
            <a:avLst/>
            <a:gdLst/>
            <a:ahLst/>
            <a:cxnLst/>
            <a:rect r="r" b="b" t="t" l="l"/>
            <a:pathLst>
              <a:path h="7068225" w="8254861">
                <a:moveTo>
                  <a:pt x="0" y="0"/>
                </a:moveTo>
                <a:lnTo>
                  <a:pt x="8254860" y="0"/>
                </a:lnTo>
                <a:lnTo>
                  <a:pt x="8254860" y="7068224"/>
                </a:lnTo>
                <a:lnTo>
                  <a:pt x="0" y="70682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3723433">
            <a:off x="16333035" y="-1151982"/>
            <a:ext cx="2751776" cy="2741770"/>
          </a:xfrm>
          <a:custGeom>
            <a:avLst/>
            <a:gdLst/>
            <a:ahLst/>
            <a:cxnLst/>
            <a:rect r="r" b="b" t="t" l="l"/>
            <a:pathLst>
              <a:path h="2741770" w="2751776">
                <a:moveTo>
                  <a:pt x="0" y="0"/>
                </a:moveTo>
                <a:lnTo>
                  <a:pt x="2751776" y="0"/>
                </a:lnTo>
                <a:lnTo>
                  <a:pt x="2751776" y="2741770"/>
                </a:lnTo>
                <a:lnTo>
                  <a:pt x="0" y="27417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-1758969">
            <a:off x="-5738858" y="-4879206"/>
            <a:ext cx="8254861" cy="7068225"/>
            <a:chOff x="0" y="0"/>
            <a:chExt cx="11006481" cy="9424299"/>
          </a:xfrm>
        </p:grpSpPr>
        <p:sp>
          <p:nvSpPr>
            <p:cNvPr name="Freeform 5" id="5"/>
            <p:cNvSpPr/>
            <p:nvPr/>
          </p:nvSpPr>
          <p:spPr>
            <a:xfrm flipH="true" flipV="false" rot="0">
              <a:off x="0" y="0"/>
              <a:ext cx="11006481" cy="9424299"/>
            </a:xfrm>
            <a:custGeom>
              <a:avLst/>
              <a:gdLst/>
              <a:ahLst/>
              <a:cxnLst/>
              <a:rect r="r" b="b" t="t" l="l"/>
              <a:pathLst>
                <a:path h="9424299" w="11006481">
                  <a:moveTo>
                    <a:pt x="11006481" y="0"/>
                  </a:moveTo>
                  <a:lnTo>
                    <a:pt x="0" y="0"/>
                  </a:lnTo>
                  <a:lnTo>
                    <a:pt x="0" y="9424299"/>
                  </a:lnTo>
                  <a:lnTo>
                    <a:pt x="11006481" y="9424299"/>
                  </a:lnTo>
                  <a:lnTo>
                    <a:pt x="11006481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true" flipV="false" rot="0">
              <a:off x="6224037" y="5553431"/>
              <a:ext cx="3669035" cy="3655693"/>
            </a:xfrm>
            <a:custGeom>
              <a:avLst/>
              <a:gdLst/>
              <a:ahLst/>
              <a:cxnLst/>
              <a:rect r="r" b="b" t="t" l="l"/>
              <a:pathLst>
                <a:path h="3655693" w="3669035">
                  <a:moveTo>
                    <a:pt x="3669035" y="0"/>
                  </a:moveTo>
                  <a:lnTo>
                    <a:pt x="0" y="0"/>
                  </a:lnTo>
                  <a:lnTo>
                    <a:pt x="0" y="3655694"/>
                  </a:lnTo>
                  <a:lnTo>
                    <a:pt x="3669035" y="3655694"/>
                  </a:lnTo>
                  <a:lnTo>
                    <a:pt x="3669035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7867383" y="5461875"/>
            <a:ext cx="1916485" cy="1815870"/>
          </a:xfrm>
          <a:custGeom>
            <a:avLst/>
            <a:gdLst/>
            <a:ahLst/>
            <a:cxnLst/>
            <a:rect r="r" b="b" t="t" l="l"/>
            <a:pathLst>
              <a:path h="1815870" w="1916485">
                <a:moveTo>
                  <a:pt x="0" y="0"/>
                </a:moveTo>
                <a:lnTo>
                  <a:pt x="1916486" y="0"/>
                </a:lnTo>
                <a:lnTo>
                  <a:pt x="1916486" y="1815870"/>
                </a:lnTo>
                <a:lnTo>
                  <a:pt x="0" y="181587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12022979" y="10076736"/>
            <a:ext cx="6802647" cy="420527"/>
          </a:xfrm>
          <a:custGeom>
            <a:avLst/>
            <a:gdLst/>
            <a:ahLst/>
            <a:cxnLst/>
            <a:rect r="r" b="b" t="t" l="l"/>
            <a:pathLst>
              <a:path h="420527" w="6802647">
                <a:moveTo>
                  <a:pt x="6802647" y="0"/>
                </a:moveTo>
                <a:lnTo>
                  <a:pt x="0" y="0"/>
                </a:lnTo>
                <a:lnTo>
                  <a:pt x="0" y="420528"/>
                </a:lnTo>
                <a:lnTo>
                  <a:pt x="6802647" y="420528"/>
                </a:lnTo>
                <a:lnTo>
                  <a:pt x="6802647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23305" y="10076736"/>
            <a:ext cx="6802647" cy="420527"/>
          </a:xfrm>
          <a:custGeom>
            <a:avLst/>
            <a:gdLst/>
            <a:ahLst/>
            <a:cxnLst/>
            <a:rect r="r" b="b" t="t" l="l"/>
            <a:pathLst>
              <a:path h="420527" w="6802647">
                <a:moveTo>
                  <a:pt x="0" y="0"/>
                </a:moveTo>
                <a:lnTo>
                  <a:pt x="6802647" y="0"/>
                </a:lnTo>
                <a:lnTo>
                  <a:pt x="6802647" y="420528"/>
                </a:lnTo>
                <a:lnTo>
                  <a:pt x="0" y="42052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41074" y="6412056"/>
            <a:ext cx="1164946" cy="1476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7"/>
              </a:lnSpc>
            </a:pPr>
            <a:r>
              <a:rPr lang="en-US" b="true" sz="424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Dados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-1611427" y="4897165"/>
            <a:ext cx="1916485" cy="1815870"/>
          </a:xfrm>
          <a:custGeom>
            <a:avLst/>
            <a:gdLst/>
            <a:ahLst/>
            <a:cxnLst/>
            <a:rect r="r" b="b" t="t" l="l"/>
            <a:pathLst>
              <a:path h="1815870" w="1916485">
                <a:moveTo>
                  <a:pt x="0" y="0"/>
                </a:moveTo>
                <a:lnTo>
                  <a:pt x="1916485" y="0"/>
                </a:lnTo>
                <a:lnTo>
                  <a:pt x="1916485" y="1815870"/>
                </a:lnTo>
                <a:lnTo>
                  <a:pt x="0" y="181587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624272" y="1257046"/>
            <a:ext cx="15039457" cy="1883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352"/>
              </a:lnSpc>
            </a:pPr>
            <a:r>
              <a:rPr lang="en-US" sz="10966">
                <a:solidFill>
                  <a:srgbClr val="D02919"/>
                </a:solidFill>
                <a:latin typeface="Engravers' Old English BT"/>
                <a:ea typeface="Engravers' Old English BT"/>
                <a:cs typeface="Engravers' Old English BT"/>
                <a:sym typeface="Engravers' Old English BT"/>
              </a:rPr>
              <a:t>Paralelização Automática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394804" y="3237668"/>
            <a:ext cx="7498392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FERRAMENTAS REAIS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849334" y="4477325"/>
            <a:ext cx="16620364" cy="585551"/>
            <a:chOff x="0" y="0"/>
            <a:chExt cx="22160486" cy="780735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-76200"/>
              <a:ext cx="6894764" cy="8569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836705" indent="-418353" lvl="1">
                <a:lnSpc>
                  <a:spcPts val="5425"/>
                </a:lnSpc>
                <a:buFont typeface="Arial"/>
                <a:buChar char="•"/>
              </a:pPr>
              <a:r>
                <a:rPr lang="en-US" sz="3875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GCC + Graphite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7222507" y="3229"/>
              <a:ext cx="14937978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>
                  <a:solidFill>
                    <a:srgbClr val="EAEAEA"/>
                  </a:solidFill>
                  <a:latin typeface="Anca Coder"/>
                  <a:ea typeface="Anca Coder"/>
                  <a:cs typeface="Anca Coder"/>
                  <a:sym typeface="Anca Coder"/>
                </a:rPr>
                <a:t>-floop-paralelize-all  -ftree-parallelize-loops=N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49334" y="5605801"/>
            <a:ext cx="16620364" cy="585551"/>
            <a:chOff x="0" y="0"/>
            <a:chExt cx="22160486" cy="780735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-76200"/>
              <a:ext cx="6894764" cy="8569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836705" indent="-418353" lvl="1">
                <a:lnSpc>
                  <a:spcPts val="5425"/>
                </a:lnSpc>
                <a:buFont typeface="Arial"/>
                <a:buChar char="•"/>
              </a:pPr>
              <a:r>
                <a:rPr lang="en-US" sz="3875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LLVM + Polly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7222507" y="-31273"/>
              <a:ext cx="14937978" cy="6667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gera </a:t>
              </a:r>
              <a:r>
                <a:rPr lang="en-US" sz="30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OpenMP</a:t>
              </a:r>
              <a:r>
                <a:rPr lang="en-US" sz="30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automaticamente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49334" y="6734277"/>
            <a:ext cx="19396629" cy="585551"/>
            <a:chOff x="0" y="0"/>
            <a:chExt cx="25862172" cy="780735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0" y="-76200"/>
              <a:ext cx="6894764" cy="8569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836705" indent="-418353" lvl="1">
                <a:lnSpc>
                  <a:spcPts val="5425"/>
                </a:lnSpc>
                <a:buFont typeface="Arial"/>
                <a:buChar char="•"/>
              </a:pPr>
              <a:r>
                <a:rPr lang="en-US" sz="3875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Interl C/C++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7222507" y="2987"/>
              <a:ext cx="18639665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>
                  <a:solidFill>
                    <a:srgbClr val="EAEAEA"/>
                  </a:solidFill>
                  <a:latin typeface="Anca Coder"/>
                  <a:ea typeface="Anca Coder"/>
                  <a:cs typeface="Anca Coder"/>
                  <a:sym typeface="Anca Coder"/>
                </a:rPr>
                <a:t>-parallel     /Qparallel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49334" y="7913635"/>
            <a:ext cx="19172524" cy="585551"/>
            <a:chOff x="0" y="0"/>
            <a:chExt cx="25563365" cy="780735"/>
          </a:xfrm>
        </p:grpSpPr>
        <p:sp>
          <p:nvSpPr>
            <p:cNvPr name="TextBox 24" id="24"/>
            <p:cNvSpPr txBox="true"/>
            <p:nvPr/>
          </p:nvSpPr>
          <p:spPr>
            <a:xfrm rot="0">
              <a:off x="0" y="-76200"/>
              <a:ext cx="6894764" cy="8569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836705" indent="-418353" lvl="1">
                <a:lnSpc>
                  <a:spcPts val="5425"/>
                </a:lnSpc>
                <a:buFont typeface="Arial"/>
                <a:buChar char="•"/>
              </a:pPr>
              <a:r>
                <a:rPr lang="en-US" sz="3875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MSVC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7205128" y="3229"/>
              <a:ext cx="6731666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>
                  <a:solidFill>
                    <a:srgbClr val="EAEAEA"/>
                  </a:solidFill>
                  <a:latin typeface="Anca Coder"/>
                  <a:ea typeface="Anca Coder"/>
                  <a:cs typeface="Anca Coder"/>
                  <a:sym typeface="Anca Coder"/>
                </a:rPr>
                <a:t>/Qpar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9900700" y="-31273"/>
              <a:ext cx="15662665" cy="6667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(auto-parallelizer)</a:t>
              </a:r>
            </a:p>
          </p:txBody>
        </p:sp>
      </p:grpSp>
    </p:spTree>
  </p:cSld>
  <p:clrMapOvr>
    <a:masterClrMapping/>
  </p:clrMapOvr>
  <p:transition spd="fast">
    <p:push dir="l"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3088931" y="9466432"/>
            <a:ext cx="24438779" cy="20925704"/>
          </a:xfrm>
          <a:custGeom>
            <a:avLst/>
            <a:gdLst/>
            <a:ahLst/>
            <a:cxnLst/>
            <a:rect r="r" b="b" t="t" l="l"/>
            <a:pathLst>
              <a:path h="20925704" w="24438779">
                <a:moveTo>
                  <a:pt x="24438779" y="0"/>
                </a:moveTo>
                <a:lnTo>
                  <a:pt x="0" y="0"/>
                </a:lnTo>
                <a:lnTo>
                  <a:pt x="0" y="20925705"/>
                </a:lnTo>
                <a:lnTo>
                  <a:pt x="24438779" y="20925705"/>
                </a:lnTo>
                <a:lnTo>
                  <a:pt x="24438779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7467113">
            <a:off x="-1425371" y="-3611885"/>
            <a:ext cx="2850742" cy="6478959"/>
          </a:xfrm>
          <a:custGeom>
            <a:avLst/>
            <a:gdLst/>
            <a:ahLst/>
            <a:cxnLst/>
            <a:rect r="r" b="b" t="t" l="l"/>
            <a:pathLst>
              <a:path h="6478959" w="2850742">
                <a:moveTo>
                  <a:pt x="0" y="0"/>
                </a:moveTo>
                <a:lnTo>
                  <a:pt x="2850742" y="0"/>
                </a:lnTo>
                <a:lnTo>
                  <a:pt x="2850742" y="6478958"/>
                </a:lnTo>
                <a:lnTo>
                  <a:pt x="0" y="64789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443117" y="0"/>
            <a:ext cx="6802647" cy="420527"/>
          </a:xfrm>
          <a:custGeom>
            <a:avLst/>
            <a:gdLst/>
            <a:ahLst/>
            <a:cxnLst/>
            <a:rect r="r" b="b" t="t" l="l"/>
            <a:pathLst>
              <a:path h="420527" w="6802647">
                <a:moveTo>
                  <a:pt x="0" y="0"/>
                </a:moveTo>
                <a:lnTo>
                  <a:pt x="6802647" y="0"/>
                </a:lnTo>
                <a:lnTo>
                  <a:pt x="6802647" y="420527"/>
                </a:lnTo>
                <a:lnTo>
                  <a:pt x="0" y="4205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1204442" y="8801506"/>
            <a:ext cx="2751776" cy="2741770"/>
          </a:xfrm>
          <a:custGeom>
            <a:avLst/>
            <a:gdLst/>
            <a:ahLst/>
            <a:cxnLst/>
            <a:rect r="r" b="b" t="t" l="l"/>
            <a:pathLst>
              <a:path h="2741770" w="2751776">
                <a:moveTo>
                  <a:pt x="2751776" y="0"/>
                </a:moveTo>
                <a:lnTo>
                  <a:pt x="0" y="0"/>
                </a:lnTo>
                <a:lnTo>
                  <a:pt x="0" y="2741770"/>
                </a:lnTo>
                <a:lnTo>
                  <a:pt x="2751776" y="2741770"/>
                </a:lnTo>
                <a:lnTo>
                  <a:pt x="2751776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95080" y="4025030"/>
            <a:ext cx="13802327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Outlining de regiões paralelas (funções auxiliares)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95080" y="4872840"/>
            <a:ext cx="12522876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Geração de runtime calls (ex: OpenMP)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95080" y="5717390"/>
            <a:ext cx="12522876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Ex: Polly cria regiões paralelas e emite OpenMP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95080" y="6561940"/>
            <a:ext cx="14870757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Transformações poliédricas (tiling/fusion) ajudam o paralelismo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2197155" y="8095589"/>
            <a:ext cx="2201363" cy="567611"/>
            <a:chOff x="0" y="0"/>
            <a:chExt cx="2935151" cy="756815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2935151" cy="756815"/>
              <a:chOff x="0" y="0"/>
              <a:chExt cx="579783" cy="149494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579783" cy="149494"/>
              </a:xfrm>
              <a:custGeom>
                <a:avLst/>
                <a:gdLst/>
                <a:ahLst/>
                <a:cxnLst/>
                <a:rect r="r" b="b" t="t" l="l"/>
                <a:pathLst>
                  <a:path h="149494" w="579783">
                    <a:moveTo>
                      <a:pt x="59787" y="0"/>
                    </a:moveTo>
                    <a:lnTo>
                      <a:pt x="519996" y="0"/>
                    </a:lnTo>
                    <a:cubicBezTo>
                      <a:pt x="535852" y="0"/>
                      <a:pt x="551059" y="6299"/>
                      <a:pt x="562272" y="17511"/>
                    </a:cubicBezTo>
                    <a:cubicBezTo>
                      <a:pt x="573484" y="28723"/>
                      <a:pt x="579783" y="43930"/>
                      <a:pt x="579783" y="59787"/>
                    </a:cubicBezTo>
                    <a:lnTo>
                      <a:pt x="579783" y="89707"/>
                    </a:lnTo>
                    <a:cubicBezTo>
                      <a:pt x="579783" y="122727"/>
                      <a:pt x="553015" y="149494"/>
                      <a:pt x="519996" y="149494"/>
                    </a:cubicBezTo>
                    <a:lnTo>
                      <a:pt x="59787" y="149494"/>
                    </a:lnTo>
                    <a:cubicBezTo>
                      <a:pt x="26768" y="149494"/>
                      <a:pt x="0" y="122727"/>
                      <a:pt x="0" y="89707"/>
                    </a:cubicBezTo>
                    <a:lnTo>
                      <a:pt x="0" y="59787"/>
                    </a:lnTo>
                    <a:cubicBezTo>
                      <a:pt x="0" y="26768"/>
                      <a:pt x="26768" y="0"/>
                      <a:pt x="59787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47625"/>
                <a:ext cx="579783" cy="19711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0" y="125687"/>
              <a:ext cx="2935151" cy="4593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B60F0A"/>
                  </a:solidFill>
                  <a:latin typeface="Bernoru UltraExpanded"/>
                  <a:ea typeface="Bernoru UltraExpanded"/>
                  <a:cs typeface="Bernoru UltraExpanded"/>
                  <a:sym typeface="Bernoru UltraExpanded"/>
                </a:rPr>
                <a:t>laço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331848" y="7425502"/>
            <a:ext cx="4758997" cy="1768042"/>
            <a:chOff x="0" y="0"/>
            <a:chExt cx="6345329" cy="2357389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6345329" cy="2357389"/>
              <a:chOff x="0" y="0"/>
              <a:chExt cx="1253398" cy="465657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253398" cy="465657"/>
              </a:xfrm>
              <a:custGeom>
                <a:avLst/>
                <a:gdLst/>
                <a:ahLst/>
                <a:cxnLst/>
                <a:rect r="r" b="b" t="t" l="l"/>
                <a:pathLst>
                  <a:path h="465657" w="1253398">
                    <a:moveTo>
                      <a:pt x="27656" y="0"/>
                    </a:moveTo>
                    <a:lnTo>
                      <a:pt x="1225743" y="0"/>
                    </a:lnTo>
                    <a:cubicBezTo>
                      <a:pt x="1233078" y="0"/>
                      <a:pt x="1240112" y="2914"/>
                      <a:pt x="1245298" y="8100"/>
                    </a:cubicBezTo>
                    <a:cubicBezTo>
                      <a:pt x="1250485" y="13287"/>
                      <a:pt x="1253398" y="20321"/>
                      <a:pt x="1253398" y="27656"/>
                    </a:cubicBezTo>
                    <a:lnTo>
                      <a:pt x="1253398" y="438002"/>
                    </a:lnTo>
                    <a:cubicBezTo>
                      <a:pt x="1253398" y="445336"/>
                      <a:pt x="1250485" y="452371"/>
                      <a:pt x="1245298" y="457557"/>
                    </a:cubicBezTo>
                    <a:cubicBezTo>
                      <a:pt x="1240112" y="462743"/>
                      <a:pt x="1233078" y="465657"/>
                      <a:pt x="1225743" y="465657"/>
                    </a:cubicBezTo>
                    <a:lnTo>
                      <a:pt x="27656" y="465657"/>
                    </a:lnTo>
                    <a:cubicBezTo>
                      <a:pt x="20321" y="465657"/>
                      <a:pt x="13287" y="462743"/>
                      <a:pt x="8100" y="457557"/>
                    </a:cubicBezTo>
                    <a:cubicBezTo>
                      <a:pt x="2914" y="452371"/>
                      <a:pt x="0" y="445336"/>
                      <a:pt x="0" y="438002"/>
                    </a:cubicBezTo>
                    <a:lnTo>
                      <a:pt x="0" y="27656"/>
                    </a:lnTo>
                    <a:cubicBezTo>
                      <a:pt x="0" y="20321"/>
                      <a:pt x="2914" y="13287"/>
                      <a:pt x="8100" y="8100"/>
                    </a:cubicBezTo>
                    <a:cubicBezTo>
                      <a:pt x="13287" y="2914"/>
                      <a:pt x="20321" y="0"/>
                      <a:pt x="2765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47625"/>
                <a:ext cx="1253398" cy="51328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625728" y="111915"/>
              <a:ext cx="5174265" cy="18690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B60F0A"/>
                  </a:solidFill>
                  <a:latin typeface="Bernoru UltraExpanded"/>
                  <a:ea typeface="Bernoru UltraExpanded"/>
                  <a:cs typeface="Bernoru UltraExpanded"/>
                  <a:sym typeface="Bernoru UltraExpanded"/>
                </a:rPr>
                <a:t>função paralela</a:t>
              </a:r>
            </a:p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B60F0A"/>
                  </a:solidFill>
                  <a:latin typeface="Bernoru UltraExpanded"/>
                  <a:ea typeface="Bernoru UltraExpanded"/>
                  <a:cs typeface="Bernoru UltraExpanded"/>
                  <a:sym typeface="Bernoru UltraExpanded"/>
                </a:rPr>
                <a:t>+</a:t>
              </a:r>
            </a:p>
            <a:p>
              <a:pPr algn="ctr">
                <a:lnSpc>
                  <a:spcPts val="28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B60F0A"/>
                  </a:solidFill>
                  <a:latin typeface="Bernoru UltraExpanded"/>
                  <a:ea typeface="Bernoru UltraExpanded"/>
                  <a:cs typeface="Bernoru UltraExpanded"/>
                  <a:sym typeface="Bernoru UltraExpanded"/>
                </a:rPr>
                <a:t>chamadas de runtime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624272" y="1257046"/>
            <a:ext cx="15039457" cy="1883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352"/>
              </a:lnSpc>
            </a:pPr>
            <a:r>
              <a:rPr lang="en-US" sz="10966">
                <a:solidFill>
                  <a:srgbClr val="D02919"/>
                </a:solidFill>
                <a:latin typeface="Engravers' Old English BT"/>
                <a:ea typeface="Engravers' Old English BT"/>
                <a:cs typeface="Engravers' Old English BT"/>
                <a:sym typeface="Engravers' Old English BT"/>
              </a:rPr>
              <a:t>Paralelização Automática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394804" y="3237668"/>
            <a:ext cx="7498392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INDO PARA O BAIXO NÍVEL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5215009" y="8182263"/>
            <a:ext cx="5331458" cy="394263"/>
            <a:chOff x="0" y="0"/>
            <a:chExt cx="11901369" cy="88011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97196" y="45720"/>
              <a:ext cx="11712093" cy="783590"/>
            </a:xfrm>
            <a:custGeom>
              <a:avLst/>
              <a:gdLst/>
              <a:ahLst/>
              <a:cxnLst/>
              <a:rect r="r" b="b" t="t" l="l"/>
              <a:pathLst>
                <a:path h="783590" w="11712093">
                  <a:moveTo>
                    <a:pt x="58829" y="294640"/>
                  </a:moveTo>
                  <a:cubicBezTo>
                    <a:pt x="649677" y="317500"/>
                    <a:pt x="884993" y="314960"/>
                    <a:pt x="1373530" y="317500"/>
                  </a:cubicBezTo>
                  <a:cubicBezTo>
                    <a:pt x="2918432" y="322580"/>
                    <a:pt x="10576437" y="240030"/>
                    <a:pt x="11011260" y="322580"/>
                  </a:cubicBezTo>
                  <a:cubicBezTo>
                    <a:pt x="11049627" y="328930"/>
                    <a:pt x="11062416" y="336550"/>
                    <a:pt x="11062416" y="344170"/>
                  </a:cubicBezTo>
                  <a:cubicBezTo>
                    <a:pt x="11064974" y="353060"/>
                    <a:pt x="11031722" y="373380"/>
                    <a:pt x="11011260" y="373380"/>
                  </a:cubicBezTo>
                  <a:cubicBezTo>
                    <a:pt x="10988241" y="373380"/>
                    <a:pt x="10983125" y="347980"/>
                    <a:pt x="10934527" y="331470"/>
                  </a:cubicBezTo>
                  <a:cubicBezTo>
                    <a:pt x="10773386" y="274320"/>
                    <a:pt x="9857699" y="118110"/>
                    <a:pt x="9691443" y="68580"/>
                  </a:cubicBezTo>
                  <a:cubicBezTo>
                    <a:pt x="9645404" y="55880"/>
                    <a:pt x="9619826" y="48260"/>
                    <a:pt x="9612152" y="36830"/>
                  </a:cubicBezTo>
                  <a:cubicBezTo>
                    <a:pt x="9607036" y="29210"/>
                    <a:pt x="9614710" y="19050"/>
                    <a:pt x="9622384" y="13970"/>
                  </a:cubicBezTo>
                  <a:cubicBezTo>
                    <a:pt x="9632615" y="8890"/>
                    <a:pt x="9642846" y="6350"/>
                    <a:pt x="9665865" y="5080"/>
                  </a:cubicBezTo>
                  <a:cubicBezTo>
                    <a:pt x="9740042" y="2540"/>
                    <a:pt x="9960010" y="29210"/>
                    <a:pt x="10139055" y="57150"/>
                  </a:cubicBezTo>
                  <a:cubicBezTo>
                    <a:pt x="10389719" y="93980"/>
                    <a:pt x="10737578" y="177800"/>
                    <a:pt x="11011260" y="227330"/>
                  </a:cubicBezTo>
                  <a:cubicBezTo>
                    <a:pt x="11254250" y="269240"/>
                    <a:pt x="11676284" y="294640"/>
                    <a:pt x="11701862" y="336550"/>
                  </a:cubicBezTo>
                  <a:cubicBezTo>
                    <a:pt x="11712092" y="356870"/>
                    <a:pt x="11650706" y="379730"/>
                    <a:pt x="11594435" y="400050"/>
                  </a:cubicBezTo>
                  <a:cubicBezTo>
                    <a:pt x="11494681" y="435610"/>
                    <a:pt x="11264480" y="461010"/>
                    <a:pt x="11098225" y="497840"/>
                  </a:cubicBezTo>
                  <a:cubicBezTo>
                    <a:pt x="10926854" y="535940"/>
                    <a:pt x="10714557" y="586740"/>
                    <a:pt x="10584110" y="626110"/>
                  </a:cubicBezTo>
                  <a:cubicBezTo>
                    <a:pt x="10499703" y="651510"/>
                    <a:pt x="10415296" y="674370"/>
                    <a:pt x="10382045" y="695960"/>
                  </a:cubicBezTo>
                  <a:cubicBezTo>
                    <a:pt x="10364141" y="709930"/>
                    <a:pt x="10374372" y="722630"/>
                    <a:pt x="10359025" y="734060"/>
                  </a:cubicBezTo>
                  <a:cubicBezTo>
                    <a:pt x="10333447" y="751840"/>
                    <a:pt x="10264387" y="781050"/>
                    <a:pt x="10233694" y="782320"/>
                  </a:cubicBezTo>
                  <a:cubicBezTo>
                    <a:pt x="10215789" y="783590"/>
                    <a:pt x="10197885" y="778510"/>
                    <a:pt x="10190211" y="772160"/>
                  </a:cubicBezTo>
                  <a:cubicBezTo>
                    <a:pt x="10179981" y="765810"/>
                    <a:pt x="10179981" y="748030"/>
                    <a:pt x="10190211" y="741680"/>
                  </a:cubicBezTo>
                  <a:cubicBezTo>
                    <a:pt x="10203000" y="735330"/>
                    <a:pt x="10251598" y="732790"/>
                    <a:pt x="10264387" y="737870"/>
                  </a:cubicBezTo>
                  <a:cubicBezTo>
                    <a:pt x="10277175" y="744220"/>
                    <a:pt x="10279733" y="768350"/>
                    <a:pt x="10266945" y="774700"/>
                  </a:cubicBezTo>
                  <a:cubicBezTo>
                    <a:pt x="10256714" y="781050"/>
                    <a:pt x="10205558" y="781050"/>
                    <a:pt x="10192769" y="774700"/>
                  </a:cubicBezTo>
                  <a:cubicBezTo>
                    <a:pt x="10182539" y="769620"/>
                    <a:pt x="10179981" y="753110"/>
                    <a:pt x="10187653" y="744220"/>
                  </a:cubicBezTo>
                  <a:cubicBezTo>
                    <a:pt x="10197885" y="731520"/>
                    <a:pt x="10246483" y="726440"/>
                    <a:pt x="10266945" y="712470"/>
                  </a:cubicBezTo>
                  <a:cubicBezTo>
                    <a:pt x="10289965" y="698500"/>
                    <a:pt x="10284849" y="676910"/>
                    <a:pt x="10315543" y="659130"/>
                  </a:cubicBezTo>
                  <a:cubicBezTo>
                    <a:pt x="10359025" y="632460"/>
                    <a:pt x="10443432" y="608330"/>
                    <a:pt x="10535512" y="581660"/>
                  </a:cubicBezTo>
                  <a:cubicBezTo>
                    <a:pt x="10671075" y="541020"/>
                    <a:pt x="10880813" y="488950"/>
                    <a:pt x="11059858" y="450850"/>
                  </a:cubicBezTo>
                  <a:cubicBezTo>
                    <a:pt x="11241461" y="412750"/>
                    <a:pt x="11617455" y="349250"/>
                    <a:pt x="11620012" y="353060"/>
                  </a:cubicBezTo>
                  <a:cubicBezTo>
                    <a:pt x="11620012" y="353060"/>
                    <a:pt x="11596993" y="363220"/>
                    <a:pt x="11573972" y="364490"/>
                  </a:cubicBezTo>
                  <a:cubicBezTo>
                    <a:pt x="11522817" y="368300"/>
                    <a:pt x="11420506" y="349250"/>
                    <a:pt x="11297732" y="330200"/>
                  </a:cubicBezTo>
                  <a:cubicBezTo>
                    <a:pt x="11036838" y="289560"/>
                    <a:pt x="10405065" y="153670"/>
                    <a:pt x="10113478" y="105410"/>
                  </a:cubicBezTo>
                  <a:cubicBezTo>
                    <a:pt x="9947222" y="77470"/>
                    <a:pt x="9793755" y="50800"/>
                    <a:pt x="9714463" y="48260"/>
                  </a:cubicBezTo>
                  <a:cubicBezTo>
                    <a:pt x="9681213" y="48260"/>
                    <a:pt x="9660750" y="58420"/>
                    <a:pt x="9642846" y="54610"/>
                  </a:cubicBezTo>
                  <a:cubicBezTo>
                    <a:pt x="9627499" y="50800"/>
                    <a:pt x="9607036" y="33020"/>
                    <a:pt x="9612152" y="25400"/>
                  </a:cubicBezTo>
                  <a:cubicBezTo>
                    <a:pt x="9614710" y="16510"/>
                    <a:pt x="9635173" y="6350"/>
                    <a:pt x="9665865" y="5080"/>
                  </a:cubicBezTo>
                  <a:cubicBezTo>
                    <a:pt x="9791197" y="0"/>
                    <a:pt x="10379487" y="156210"/>
                    <a:pt x="10630151" y="217170"/>
                  </a:cubicBezTo>
                  <a:cubicBezTo>
                    <a:pt x="10796407" y="256540"/>
                    <a:pt x="10983125" y="294640"/>
                    <a:pt x="11036838" y="325120"/>
                  </a:cubicBezTo>
                  <a:cubicBezTo>
                    <a:pt x="11057300" y="336550"/>
                    <a:pt x="11064974" y="347980"/>
                    <a:pt x="11059858" y="356870"/>
                  </a:cubicBezTo>
                  <a:cubicBezTo>
                    <a:pt x="11054743" y="364490"/>
                    <a:pt x="11044511" y="368300"/>
                    <a:pt x="11011260" y="373380"/>
                  </a:cubicBezTo>
                  <a:cubicBezTo>
                    <a:pt x="10568764" y="441960"/>
                    <a:pt x="1498861" y="387350"/>
                    <a:pt x="399014" y="360680"/>
                  </a:cubicBezTo>
                  <a:cubicBezTo>
                    <a:pt x="194391" y="356870"/>
                    <a:pt x="92080" y="361950"/>
                    <a:pt x="38366" y="344170"/>
                  </a:cubicBezTo>
                  <a:cubicBezTo>
                    <a:pt x="15346" y="336550"/>
                    <a:pt x="0" y="322580"/>
                    <a:pt x="5115" y="314960"/>
                  </a:cubicBezTo>
                  <a:cubicBezTo>
                    <a:pt x="7673" y="307340"/>
                    <a:pt x="58829" y="294640"/>
                    <a:pt x="58829" y="29464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  <p:transition spd="fast">
    <p:fade/>
  </p:transition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02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47706" y="1091179"/>
            <a:ext cx="15192587" cy="1883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352"/>
              </a:lnSpc>
            </a:pPr>
            <a:r>
              <a:rPr lang="en-US" sz="10966">
                <a:solidFill>
                  <a:srgbClr val="FFFFFF"/>
                </a:solidFill>
                <a:latin typeface="Engravers' Old English BT"/>
                <a:ea typeface="Engravers' Old English BT"/>
                <a:cs typeface="Engravers' Old English BT"/>
                <a:sym typeface="Engravers' Old English BT"/>
              </a:rPr>
              <a:t>Compiladores Otimizados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747790" y="4042217"/>
            <a:ext cx="10792420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Usar múltiplos núcleos sem reescrever tudo</a:t>
            </a:r>
          </a:p>
        </p:txBody>
      </p:sp>
      <p:sp>
        <p:nvSpPr>
          <p:cNvPr name="Freeform 4" id="4"/>
          <p:cNvSpPr/>
          <p:nvPr/>
        </p:nvSpPr>
        <p:spPr>
          <a:xfrm flipH="true" flipV="false" rot="0">
            <a:off x="-3075389" y="8190616"/>
            <a:ext cx="24438779" cy="20925704"/>
          </a:xfrm>
          <a:custGeom>
            <a:avLst/>
            <a:gdLst/>
            <a:ahLst/>
            <a:cxnLst/>
            <a:rect r="r" b="b" t="t" l="l"/>
            <a:pathLst>
              <a:path h="20925704" w="24438779">
                <a:moveTo>
                  <a:pt x="24438778" y="0"/>
                </a:moveTo>
                <a:lnTo>
                  <a:pt x="0" y="0"/>
                </a:lnTo>
                <a:lnTo>
                  <a:pt x="0" y="20925705"/>
                </a:lnTo>
                <a:lnTo>
                  <a:pt x="24438778" y="20925705"/>
                </a:lnTo>
                <a:lnTo>
                  <a:pt x="24438778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634471" y="7050792"/>
            <a:ext cx="1249657" cy="1184050"/>
          </a:xfrm>
          <a:custGeom>
            <a:avLst/>
            <a:gdLst/>
            <a:ahLst/>
            <a:cxnLst/>
            <a:rect r="r" b="b" t="t" l="l"/>
            <a:pathLst>
              <a:path h="1184050" w="1249657">
                <a:moveTo>
                  <a:pt x="0" y="0"/>
                </a:moveTo>
                <a:lnTo>
                  <a:pt x="1249658" y="0"/>
                </a:lnTo>
                <a:lnTo>
                  <a:pt x="1249658" y="1184050"/>
                </a:lnTo>
                <a:lnTo>
                  <a:pt x="0" y="11840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7467113">
            <a:off x="491801" y="-3719719"/>
            <a:ext cx="2850742" cy="6478959"/>
          </a:xfrm>
          <a:custGeom>
            <a:avLst/>
            <a:gdLst/>
            <a:ahLst/>
            <a:cxnLst/>
            <a:rect r="r" b="b" t="t" l="l"/>
            <a:pathLst>
              <a:path h="6478959" w="2850742">
                <a:moveTo>
                  <a:pt x="0" y="0"/>
                </a:moveTo>
                <a:lnTo>
                  <a:pt x="2850742" y="0"/>
                </a:lnTo>
                <a:lnTo>
                  <a:pt x="2850742" y="6478958"/>
                </a:lnTo>
                <a:lnTo>
                  <a:pt x="0" y="64789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305591" y="-210264"/>
            <a:ext cx="6802647" cy="420527"/>
          </a:xfrm>
          <a:custGeom>
            <a:avLst/>
            <a:gdLst/>
            <a:ahLst/>
            <a:cxnLst/>
            <a:rect r="r" b="b" t="t" l="l"/>
            <a:pathLst>
              <a:path h="420527" w="6802647">
                <a:moveTo>
                  <a:pt x="0" y="0"/>
                </a:moveTo>
                <a:lnTo>
                  <a:pt x="6802647" y="0"/>
                </a:lnTo>
                <a:lnTo>
                  <a:pt x="6802647" y="420528"/>
                </a:lnTo>
                <a:lnTo>
                  <a:pt x="0" y="4205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-1187030" y="8916115"/>
            <a:ext cx="2751776" cy="2741770"/>
          </a:xfrm>
          <a:custGeom>
            <a:avLst/>
            <a:gdLst/>
            <a:ahLst/>
            <a:cxnLst/>
            <a:rect r="r" b="b" t="t" l="l"/>
            <a:pathLst>
              <a:path h="2741770" w="2751776">
                <a:moveTo>
                  <a:pt x="2751777" y="0"/>
                </a:moveTo>
                <a:lnTo>
                  <a:pt x="0" y="0"/>
                </a:lnTo>
                <a:lnTo>
                  <a:pt x="0" y="2741770"/>
                </a:lnTo>
                <a:lnTo>
                  <a:pt x="2751777" y="2741770"/>
                </a:lnTo>
                <a:lnTo>
                  <a:pt x="2751777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747790" y="5020117"/>
            <a:ext cx="10792420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Extrair paralelismo de laços e SIMD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747790" y="5998017"/>
            <a:ext cx="10792420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Adaptar ao hardware (cache, vetores)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747790" y="6974592"/>
            <a:ext cx="10792420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Menos esforço/erros na paralelização manual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394804" y="2898611"/>
            <a:ext cx="7498392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POR QUÊ?</a:t>
            </a:r>
          </a:p>
        </p:txBody>
      </p:sp>
    </p:spTree>
  </p:cSld>
  <p:clrMapOvr>
    <a:masterClrMapping/>
  </p:clrMapOvr>
  <p:transition spd="fast">
    <p:push dir="l"/>
  </p:transition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02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47706" y="1091179"/>
            <a:ext cx="15192587" cy="1883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352"/>
              </a:lnSpc>
            </a:pPr>
            <a:r>
              <a:rPr lang="en-US" sz="10966">
                <a:solidFill>
                  <a:srgbClr val="FFFFFF"/>
                </a:solidFill>
                <a:latin typeface="Engravers' Old English BT"/>
                <a:ea typeface="Engravers' Old English BT"/>
                <a:cs typeface="Engravers' Old English BT"/>
                <a:sym typeface="Engravers' Old English BT"/>
              </a:rPr>
              <a:t>Compiladores Otimizados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409605" y="4102692"/>
            <a:ext cx="7468791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Ponteiros/aliasing atrapalham</a:t>
            </a:r>
          </a:p>
        </p:txBody>
      </p:sp>
      <p:sp>
        <p:nvSpPr>
          <p:cNvPr name="Freeform 4" id="4"/>
          <p:cNvSpPr/>
          <p:nvPr/>
        </p:nvSpPr>
        <p:spPr>
          <a:xfrm flipH="true" flipV="false" rot="0">
            <a:off x="-3075389" y="8190616"/>
            <a:ext cx="24438779" cy="20925704"/>
          </a:xfrm>
          <a:custGeom>
            <a:avLst/>
            <a:gdLst/>
            <a:ahLst/>
            <a:cxnLst/>
            <a:rect r="r" b="b" t="t" l="l"/>
            <a:pathLst>
              <a:path h="20925704" w="24438779">
                <a:moveTo>
                  <a:pt x="24438778" y="0"/>
                </a:moveTo>
                <a:lnTo>
                  <a:pt x="0" y="0"/>
                </a:lnTo>
                <a:lnTo>
                  <a:pt x="0" y="20925705"/>
                </a:lnTo>
                <a:lnTo>
                  <a:pt x="24438778" y="20925705"/>
                </a:lnTo>
                <a:lnTo>
                  <a:pt x="24438778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634471" y="7050792"/>
            <a:ext cx="1249657" cy="1184050"/>
          </a:xfrm>
          <a:custGeom>
            <a:avLst/>
            <a:gdLst/>
            <a:ahLst/>
            <a:cxnLst/>
            <a:rect r="r" b="b" t="t" l="l"/>
            <a:pathLst>
              <a:path h="1184050" w="1249657">
                <a:moveTo>
                  <a:pt x="0" y="0"/>
                </a:moveTo>
                <a:lnTo>
                  <a:pt x="1249658" y="0"/>
                </a:lnTo>
                <a:lnTo>
                  <a:pt x="1249658" y="1184050"/>
                </a:lnTo>
                <a:lnTo>
                  <a:pt x="0" y="11840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7467113">
            <a:off x="491801" y="-3719719"/>
            <a:ext cx="2850742" cy="6478959"/>
          </a:xfrm>
          <a:custGeom>
            <a:avLst/>
            <a:gdLst/>
            <a:ahLst/>
            <a:cxnLst/>
            <a:rect r="r" b="b" t="t" l="l"/>
            <a:pathLst>
              <a:path h="6478959" w="2850742">
                <a:moveTo>
                  <a:pt x="0" y="0"/>
                </a:moveTo>
                <a:lnTo>
                  <a:pt x="2850742" y="0"/>
                </a:lnTo>
                <a:lnTo>
                  <a:pt x="2850742" y="6478958"/>
                </a:lnTo>
                <a:lnTo>
                  <a:pt x="0" y="64789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305591" y="-210264"/>
            <a:ext cx="6802647" cy="420527"/>
          </a:xfrm>
          <a:custGeom>
            <a:avLst/>
            <a:gdLst/>
            <a:ahLst/>
            <a:cxnLst/>
            <a:rect r="r" b="b" t="t" l="l"/>
            <a:pathLst>
              <a:path h="420527" w="6802647">
                <a:moveTo>
                  <a:pt x="0" y="0"/>
                </a:moveTo>
                <a:lnTo>
                  <a:pt x="6802647" y="0"/>
                </a:lnTo>
                <a:lnTo>
                  <a:pt x="6802647" y="420528"/>
                </a:lnTo>
                <a:lnTo>
                  <a:pt x="0" y="4205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-1187030" y="8916115"/>
            <a:ext cx="2751776" cy="2741770"/>
          </a:xfrm>
          <a:custGeom>
            <a:avLst/>
            <a:gdLst/>
            <a:ahLst/>
            <a:cxnLst/>
            <a:rect r="r" b="b" t="t" l="l"/>
            <a:pathLst>
              <a:path h="2741770" w="2751776">
                <a:moveTo>
                  <a:pt x="2751777" y="0"/>
                </a:moveTo>
                <a:lnTo>
                  <a:pt x="0" y="0"/>
                </a:lnTo>
                <a:lnTo>
                  <a:pt x="0" y="2741770"/>
                </a:lnTo>
                <a:lnTo>
                  <a:pt x="2751777" y="2741770"/>
                </a:lnTo>
                <a:lnTo>
                  <a:pt x="2751777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524166" y="2898611"/>
            <a:ext cx="11239668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LIMITAÇÕES DA PARALELIZAÇÃO AUTOMÁTICA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409605" y="5080592"/>
            <a:ext cx="7468791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Controle de fluxo complexo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409605" y="6058492"/>
            <a:ext cx="7468791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I/O e estado global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409605" y="7036392"/>
            <a:ext cx="7468791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Overhead pode anular ganho</a:t>
            </a:r>
          </a:p>
        </p:txBody>
      </p:sp>
    </p:spTree>
  </p:cSld>
  <p:clrMapOvr>
    <a:masterClrMapping/>
  </p:clrMapOvr>
  <p:transition spd="fast">
    <p:push dir="l"/>
  </p:transition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02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47706" y="1091179"/>
            <a:ext cx="15192587" cy="1883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352"/>
              </a:lnSpc>
            </a:pPr>
            <a:r>
              <a:rPr lang="en-US" sz="10966">
                <a:solidFill>
                  <a:srgbClr val="FFFFFF"/>
                </a:solidFill>
                <a:latin typeface="Engravers' Old English BT"/>
                <a:ea typeface="Engravers' Old English BT"/>
                <a:cs typeface="Engravers' Old English BT"/>
                <a:sym typeface="Engravers' Old English BT"/>
              </a:rPr>
              <a:t>Compiladores Otimizados</a:t>
            </a:r>
          </a:p>
        </p:txBody>
      </p:sp>
      <p:sp>
        <p:nvSpPr>
          <p:cNvPr name="Freeform 3" id="3"/>
          <p:cNvSpPr/>
          <p:nvPr/>
        </p:nvSpPr>
        <p:spPr>
          <a:xfrm flipH="true" flipV="false" rot="0">
            <a:off x="-3075389" y="8190616"/>
            <a:ext cx="24438779" cy="20925704"/>
          </a:xfrm>
          <a:custGeom>
            <a:avLst/>
            <a:gdLst/>
            <a:ahLst/>
            <a:cxnLst/>
            <a:rect r="r" b="b" t="t" l="l"/>
            <a:pathLst>
              <a:path h="20925704" w="24438779">
                <a:moveTo>
                  <a:pt x="24438778" y="0"/>
                </a:moveTo>
                <a:lnTo>
                  <a:pt x="0" y="0"/>
                </a:lnTo>
                <a:lnTo>
                  <a:pt x="0" y="20925705"/>
                </a:lnTo>
                <a:lnTo>
                  <a:pt x="24438778" y="20925705"/>
                </a:lnTo>
                <a:lnTo>
                  <a:pt x="24438778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634471" y="7050792"/>
            <a:ext cx="1249657" cy="1184050"/>
          </a:xfrm>
          <a:custGeom>
            <a:avLst/>
            <a:gdLst/>
            <a:ahLst/>
            <a:cxnLst/>
            <a:rect r="r" b="b" t="t" l="l"/>
            <a:pathLst>
              <a:path h="1184050" w="1249657">
                <a:moveTo>
                  <a:pt x="0" y="0"/>
                </a:moveTo>
                <a:lnTo>
                  <a:pt x="1249658" y="0"/>
                </a:lnTo>
                <a:lnTo>
                  <a:pt x="1249658" y="1184050"/>
                </a:lnTo>
                <a:lnTo>
                  <a:pt x="0" y="11840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7467113">
            <a:off x="491801" y="-3719719"/>
            <a:ext cx="2850742" cy="6478959"/>
          </a:xfrm>
          <a:custGeom>
            <a:avLst/>
            <a:gdLst/>
            <a:ahLst/>
            <a:cxnLst/>
            <a:rect r="r" b="b" t="t" l="l"/>
            <a:pathLst>
              <a:path h="6478959" w="2850742">
                <a:moveTo>
                  <a:pt x="0" y="0"/>
                </a:moveTo>
                <a:lnTo>
                  <a:pt x="2850742" y="0"/>
                </a:lnTo>
                <a:lnTo>
                  <a:pt x="2850742" y="6478958"/>
                </a:lnTo>
                <a:lnTo>
                  <a:pt x="0" y="64789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305591" y="-210264"/>
            <a:ext cx="6802647" cy="420527"/>
          </a:xfrm>
          <a:custGeom>
            <a:avLst/>
            <a:gdLst/>
            <a:ahLst/>
            <a:cxnLst/>
            <a:rect r="r" b="b" t="t" l="l"/>
            <a:pathLst>
              <a:path h="420527" w="6802647">
                <a:moveTo>
                  <a:pt x="0" y="0"/>
                </a:moveTo>
                <a:lnTo>
                  <a:pt x="6802647" y="0"/>
                </a:lnTo>
                <a:lnTo>
                  <a:pt x="6802647" y="420528"/>
                </a:lnTo>
                <a:lnTo>
                  <a:pt x="0" y="4205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-1187030" y="8916115"/>
            <a:ext cx="2751776" cy="2741770"/>
          </a:xfrm>
          <a:custGeom>
            <a:avLst/>
            <a:gdLst/>
            <a:ahLst/>
            <a:cxnLst/>
            <a:rect r="r" b="b" t="t" l="l"/>
            <a:pathLst>
              <a:path h="2741770" w="2751776">
                <a:moveTo>
                  <a:pt x="2751777" y="0"/>
                </a:moveTo>
                <a:lnTo>
                  <a:pt x="0" y="0"/>
                </a:lnTo>
                <a:lnTo>
                  <a:pt x="0" y="2741770"/>
                </a:lnTo>
                <a:lnTo>
                  <a:pt x="2751777" y="2741770"/>
                </a:lnTo>
                <a:lnTo>
                  <a:pt x="2751777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524166" y="2898611"/>
            <a:ext cx="11239668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LIMITAÇÕES DA PARALELIZAÇÃO AUTOMÁTICA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17172" y="4149176"/>
            <a:ext cx="11592959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Exemplo não paralelizável como DOALL: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917172" y="4925024"/>
            <a:ext cx="11915403" cy="3309818"/>
            <a:chOff x="0" y="0"/>
            <a:chExt cx="3165320" cy="87925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165320" cy="879251"/>
            </a:xfrm>
            <a:custGeom>
              <a:avLst/>
              <a:gdLst/>
              <a:ahLst/>
              <a:cxnLst/>
              <a:rect r="r" b="b" t="t" l="l"/>
              <a:pathLst>
                <a:path h="879251" w="3165320">
                  <a:moveTo>
                    <a:pt x="12995" y="0"/>
                  </a:moveTo>
                  <a:lnTo>
                    <a:pt x="3152325" y="0"/>
                  </a:lnTo>
                  <a:cubicBezTo>
                    <a:pt x="3159502" y="0"/>
                    <a:pt x="3165320" y="5818"/>
                    <a:pt x="3165320" y="12995"/>
                  </a:cubicBezTo>
                  <a:lnTo>
                    <a:pt x="3165320" y="866256"/>
                  </a:lnTo>
                  <a:cubicBezTo>
                    <a:pt x="3165320" y="873433"/>
                    <a:pt x="3159502" y="879251"/>
                    <a:pt x="3152325" y="879251"/>
                  </a:cubicBezTo>
                  <a:lnTo>
                    <a:pt x="12995" y="879251"/>
                  </a:lnTo>
                  <a:cubicBezTo>
                    <a:pt x="5818" y="879251"/>
                    <a:pt x="0" y="873433"/>
                    <a:pt x="0" y="866256"/>
                  </a:cubicBezTo>
                  <a:lnTo>
                    <a:pt x="0" y="12995"/>
                  </a:lnTo>
                  <a:cubicBezTo>
                    <a:pt x="0" y="5818"/>
                    <a:pt x="5818" y="0"/>
                    <a:pt x="12995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3165320" cy="9268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113938" y="5210774"/>
            <a:ext cx="11521871" cy="2662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2"/>
              </a:lnSpc>
              <a:spcBef>
                <a:spcPct val="0"/>
              </a:spcBef>
            </a:pPr>
            <a:r>
              <a:rPr lang="en-US" b="true" sz="3780">
                <a:solidFill>
                  <a:srgbClr val="999999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// Depende do vizinho: NÃO DOALL</a:t>
            </a:r>
          </a:p>
          <a:p>
            <a:pPr algn="l">
              <a:lnSpc>
                <a:spcPts val="5292"/>
              </a:lnSpc>
              <a:spcBef>
                <a:spcPct val="0"/>
              </a:spcBef>
            </a:pPr>
            <a:r>
              <a:rPr lang="en-US" b="true" sz="3780">
                <a:solidFill>
                  <a:srgbClr val="FFFFFF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for (int i = 1; i &lt; n; ++i) {</a:t>
            </a:r>
          </a:p>
          <a:p>
            <a:pPr algn="l">
              <a:lnSpc>
                <a:spcPts val="5292"/>
              </a:lnSpc>
              <a:spcBef>
                <a:spcPct val="0"/>
              </a:spcBef>
            </a:pPr>
            <a:r>
              <a:rPr lang="en-US" b="true" sz="3780">
                <a:solidFill>
                  <a:srgbClr val="FFFFFF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    out[i] = 0.5f*in[i] + 0.5f*out[i-1];</a:t>
            </a:r>
          </a:p>
          <a:p>
            <a:pPr algn="l">
              <a:lnSpc>
                <a:spcPts val="5292"/>
              </a:lnSpc>
              <a:spcBef>
                <a:spcPct val="0"/>
              </a:spcBef>
            </a:pPr>
            <a:r>
              <a:rPr lang="en-US" b="true" sz="3780">
                <a:solidFill>
                  <a:srgbClr val="FFFFFF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}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0179537" y="1916645"/>
            <a:ext cx="7341655" cy="7341655"/>
            <a:chOff x="0" y="0"/>
            <a:chExt cx="9788873" cy="9788873"/>
          </a:xfrm>
        </p:grpSpPr>
        <p:grpSp>
          <p:nvGrpSpPr>
            <p:cNvPr name="Group 15" id="15"/>
            <p:cNvGrpSpPr/>
            <p:nvPr/>
          </p:nvGrpSpPr>
          <p:grpSpPr>
            <a:xfrm rot="1975556">
              <a:off x="1355254" y="1355254"/>
              <a:ext cx="7078366" cy="7078366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558800" y="0"/>
                    </a:moveTo>
                    <a:lnTo>
                      <a:pt x="254000" y="0"/>
                    </a:lnTo>
                    <a:lnTo>
                      <a:pt x="254000" y="254000"/>
                    </a:lnTo>
                    <a:lnTo>
                      <a:pt x="0" y="254000"/>
                    </a:lnTo>
                    <a:lnTo>
                      <a:pt x="0" y="558800"/>
                    </a:lnTo>
                    <a:lnTo>
                      <a:pt x="254000" y="558800"/>
                    </a:lnTo>
                    <a:lnTo>
                      <a:pt x="254000" y="812800"/>
                    </a:lnTo>
                    <a:lnTo>
                      <a:pt x="558800" y="812800"/>
                    </a:lnTo>
                    <a:lnTo>
                      <a:pt x="558800" y="558800"/>
                    </a:lnTo>
                    <a:lnTo>
                      <a:pt x="812800" y="558800"/>
                    </a:lnTo>
                    <a:lnTo>
                      <a:pt x="812800" y="254000"/>
                    </a:lnTo>
                    <a:lnTo>
                      <a:pt x="558800" y="254000"/>
                    </a:lnTo>
                    <a:lnTo>
                      <a:pt x="558800" y="0"/>
                    </a:lnTo>
                    <a:close/>
                  </a:path>
                </a:pathLst>
              </a:custGeom>
              <a:solidFill>
                <a:srgbClr val="B60F0A"/>
              </a:solidFill>
              <a:ln w="25717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190500" y="142875"/>
                <a:ext cx="431800" cy="479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-633815">
              <a:off x="1063535" y="4043204"/>
              <a:ext cx="7646088" cy="16181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00"/>
                </a:lnSpc>
              </a:pPr>
              <a:r>
                <a:rPr lang="en-US" sz="3500">
                  <a:solidFill>
                    <a:srgbClr val="FFFFFF"/>
                  </a:solidFill>
                  <a:latin typeface="Bernoru UltraExpanded"/>
                  <a:ea typeface="Bernoru UltraExpanded"/>
                  <a:cs typeface="Bernoru UltraExpanded"/>
                  <a:sym typeface="Bernoru UltraExpanded"/>
                </a:rPr>
                <a:t>REJEITADO P/ OTIMIZAÇÃO</a:t>
              </a:r>
            </a:p>
          </p:txBody>
        </p:sp>
      </p:grpSp>
    </p:spTree>
  </p:cSld>
  <p:clrMapOvr>
    <a:masterClrMapping/>
  </p:clrMapOvr>
  <p:transition spd="fast">
    <p:push dir="l"/>
  </p:transition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02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47706" y="1091179"/>
            <a:ext cx="15192587" cy="1883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352"/>
              </a:lnSpc>
            </a:pPr>
            <a:r>
              <a:rPr lang="en-US" sz="10966">
                <a:solidFill>
                  <a:srgbClr val="FFFFFF"/>
                </a:solidFill>
                <a:latin typeface="Engravers' Old English BT"/>
                <a:ea typeface="Engravers' Old English BT"/>
                <a:cs typeface="Engravers' Old English BT"/>
                <a:sym typeface="Engravers' Old English BT"/>
              </a:rPr>
              <a:t>Compiladores Otimizados</a:t>
            </a:r>
          </a:p>
        </p:txBody>
      </p:sp>
      <p:sp>
        <p:nvSpPr>
          <p:cNvPr name="Freeform 3" id="3"/>
          <p:cNvSpPr/>
          <p:nvPr/>
        </p:nvSpPr>
        <p:spPr>
          <a:xfrm flipH="true" flipV="false" rot="0">
            <a:off x="-3075389" y="8190616"/>
            <a:ext cx="24438779" cy="20925704"/>
          </a:xfrm>
          <a:custGeom>
            <a:avLst/>
            <a:gdLst/>
            <a:ahLst/>
            <a:cxnLst/>
            <a:rect r="r" b="b" t="t" l="l"/>
            <a:pathLst>
              <a:path h="20925704" w="24438779">
                <a:moveTo>
                  <a:pt x="24438778" y="0"/>
                </a:moveTo>
                <a:lnTo>
                  <a:pt x="0" y="0"/>
                </a:lnTo>
                <a:lnTo>
                  <a:pt x="0" y="20925705"/>
                </a:lnTo>
                <a:lnTo>
                  <a:pt x="24438778" y="20925705"/>
                </a:lnTo>
                <a:lnTo>
                  <a:pt x="24438778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7467113">
            <a:off x="491801" y="-3719719"/>
            <a:ext cx="2850742" cy="6478959"/>
          </a:xfrm>
          <a:custGeom>
            <a:avLst/>
            <a:gdLst/>
            <a:ahLst/>
            <a:cxnLst/>
            <a:rect r="r" b="b" t="t" l="l"/>
            <a:pathLst>
              <a:path h="6478959" w="2850742">
                <a:moveTo>
                  <a:pt x="0" y="0"/>
                </a:moveTo>
                <a:lnTo>
                  <a:pt x="2850742" y="0"/>
                </a:lnTo>
                <a:lnTo>
                  <a:pt x="2850742" y="6478958"/>
                </a:lnTo>
                <a:lnTo>
                  <a:pt x="0" y="64789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305591" y="-210264"/>
            <a:ext cx="6802647" cy="420527"/>
          </a:xfrm>
          <a:custGeom>
            <a:avLst/>
            <a:gdLst/>
            <a:ahLst/>
            <a:cxnLst/>
            <a:rect r="r" b="b" t="t" l="l"/>
            <a:pathLst>
              <a:path h="420527" w="6802647">
                <a:moveTo>
                  <a:pt x="0" y="0"/>
                </a:moveTo>
                <a:lnTo>
                  <a:pt x="6802647" y="0"/>
                </a:lnTo>
                <a:lnTo>
                  <a:pt x="6802647" y="420528"/>
                </a:lnTo>
                <a:lnTo>
                  <a:pt x="0" y="4205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-1187030" y="8916115"/>
            <a:ext cx="2751776" cy="2741770"/>
          </a:xfrm>
          <a:custGeom>
            <a:avLst/>
            <a:gdLst/>
            <a:ahLst/>
            <a:cxnLst/>
            <a:rect r="r" b="b" t="t" l="l"/>
            <a:pathLst>
              <a:path h="2741770" w="2751776">
                <a:moveTo>
                  <a:pt x="2751777" y="0"/>
                </a:moveTo>
                <a:lnTo>
                  <a:pt x="0" y="0"/>
                </a:lnTo>
                <a:lnTo>
                  <a:pt x="0" y="2741770"/>
                </a:lnTo>
                <a:lnTo>
                  <a:pt x="2751777" y="2741770"/>
                </a:lnTo>
                <a:lnTo>
                  <a:pt x="275177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524166" y="2898611"/>
            <a:ext cx="11239668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LIMITAÇÕES DA PARALELIZAÇÃO AUTOMÁTICA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17172" y="4149176"/>
            <a:ext cx="11592959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Variante paralelizável: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917172" y="4925024"/>
            <a:ext cx="15034114" cy="3309818"/>
            <a:chOff x="0" y="0"/>
            <a:chExt cx="3993804" cy="87925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993804" cy="879251"/>
            </a:xfrm>
            <a:custGeom>
              <a:avLst/>
              <a:gdLst/>
              <a:ahLst/>
              <a:cxnLst/>
              <a:rect r="r" b="b" t="t" l="l"/>
              <a:pathLst>
                <a:path h="879251" w="3993804">
                  <a:moveTo>
                    <a:pt x="10299" y="0"/>
                  </a:moveTo>
                  <a:lnTo>
                    <a:pt x="3983505" y="0"/>
                  </a:lnTo>
                  <a:cubicBezTo>
                    <a:pt x="3986236" y="0"/>
                    <a:pt x="3988855" y="1085"/>
                    <a:pt x="3990787" y="3017"/>
                  </a:cubicBezTo>
                  <a:cubicBezTo>
                    <a:pt x="3992718" y="4948"/>
                    <a:pt x="3993804" y="7568"/>
                    <a:pt x="3993804" y="10299"/>
                  </a:cubicBezTo>
                  <a:lnTo>
                    <a:pt x="3993804" y="868952"/>
                  </a:lnTo>
                  <a:cubicBezTo>
                    <a:pt x="3993804" y="871683"/>
                    <a:pt x="3992718" y="874303"/>
                    <a:pt x="3990787" y="876235"/>
                  </a:cubicBezTo>
                  <a:cubicBezTo>
                    <a:pt x="3988855" y="878166"/>
                    <a:pt x="3986236" y="879251"/>
                    <a:pt x="3983505" y="879251"/>
                  </a:cubicBezTo>
                  <a:lnTo>
                    <a:pt x="10299" y="879251"/>
                  </a:lnTo>
                  <a:cubicBezTo>
                    <a:pt x="7568" y="879251"/>
                    <a:pt x="4948" y="878166"/>
                    <a:pt x="3017" y="876235"/>
                  </a:cubicBezTo>
                  <a:cubicBezTo>
                    <a:pt x="1085" y="874303"/>
                    <a:pt x="0" y="871683"/>
                    <a:pt x="0" y="868952"/>
                  </a:cubicBezTo>
                  <a:lnTo>
                    <a:pt x="0" y="10299"/>
                  </a:lnTo>
                  <a:cubicBezTo>
                    <a:pt x="0" y="7568"/>
                    <a:pt x="1085" y="4948"/>
                    <a:pt x="3017" y="3017"/>
                  </a:cubicBezTo>
                  <a:cubicBezTo>
                    <a:pt x="4948" y="1085"/>
                    <a:pt x="7568" y="0"/>
                    <a:pt x="1029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3993804" cy="9268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210756" y="5346509"/>
            <a:ext cx="14423715" cy="2390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32"/>
              </a:lnSpc>
              <a:spcBef>
                <a:spcPct val="0"/>
              </a:spcBef>
            </a:pPr>
            <a:r>
              <a:rPr lang="en-US" b="true" sz="3380">
                <a:solidFill>
                  <a:srgbClr val="999999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// Janela fixa: DOALL (cada i indep.)</a:t>
            </a:r>
          </a:p>
          <a:p>
            <a:pPr algn="l">
              <a:lnSpc>
                <a:spcPts val="4732"/>
              </a:lnSpc>
              <a:spcBef>
                <a:spcPct val="0"/>
              </a:spcBef>
            </a:pPr>
            <a:r>
              <a:rPr lang="en-US" b="true" sz="3380">
                <a:solidFill>
                  <a:srgbClr val="FFFFFF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for (int i = 1; i+1 &lt; n; ++i) {</a:t>
            </a:r>
          </a:p>
          <a:p>
            <a:pPr algn="l">
              <a:lnSpc>
                <a:spcPts val="4732"/>
              </a:lnSpc>
              <a:spcBef>
                <a:spcPct val="0"/>
              </a:spcBef>
            </a:pPr>
            <a:r>
              <a:rPr lang="en-US" b="true" sz="3380">
                <a:solidFill>
                  <a:srgbClr val="FFFFFF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    out[i] = 0.25f*in[i-1] + 0.5f*in[i] + 0.25f*in[i+1];</a:t>
            </a:r>
          </a:p>
          <a:p>
            <a:pPr algn="l">
              <a:lnSpc>
                <a:spcPts val="4732"/>
              </a:lnSpc>
              <a:spcBef>
                <a:spcPct val="0"/>
              </a:spcBef>
            </a:pPr>
            <a:r>
              <a:rPr lang="en-US" b="true" sz="3380">
                <a:solidFill>
                  <a:srgbClr val="FFFFFF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}</a:t>
            </a:r>
          </a:p>
        </p:txBody>
      </p:sp>
      <p:grpSp>
        <p:nvGrpSpPr>
          <p:cNvPr name="Group 13" id="13"/>
          <p:cNvGrpSpPr/>
          <p:nvPr/>
        </p:nvGrpSpPr>
        <p:grpSpPr>
          <a:xfrm rot="-911567">
            <a:off x="11563880" y="1383974"/>
            <a:ext cx="7142311" cy="7082099"/>
            <a:chOff x="0" y="0"/>
            <a:chExt cx="9523082" cy="9442799"/>
          </a:xfrm>
        </p:grpSpPr>
        <p:grpSp>
          <p:nvGrpSpPr>
            <p:cNvPr name="Group 14" id="14"/>
            <p:cNvGrpSpPr/>
            <p:nvPr/>
          </p:nvGrpSpPr>
          <p:grpSpPr>
            <a:xfrm rot="-2099840">
              <a:off x="1275359" y="1398632"/>
              <a:ext cx="6972364" cy="6645535"/>
              <a:chOff x="0" y="0"/>
              <a:chExt cx="812800" cy="7747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774700"/>
              </a:xfrm>
              <a:custGeom>
                <a:avLst/>
                <a:gdLst/>
                <a:ahLst/>
                <a:cxnLst/>
                <a:rect r="r" b="b" t="t" l="l"/>
                <a:pathLst>
                  <a:path h="774700" w="812800">
                    <a:moveTo>
                      <a:pt x="406400" y="0"/>
                    </a:moveTo>
                    <a:lnTo>
                      <a:pt x="502338" y="295909"/>
                    </a:lnTo>
                    <a:lnTo>
                      <a:pt x="812800" y="295909"/>
                    </a:lnTo>
                    <a:lnTo>
                      <a:pt x="561631" y="478791"/>
                    </a:lnTo>
                    <a:lnTo>
                      <a:pt x="657569" y="774700"/>
                    </a:lnTo>
                    <a:lnTo>
                      <a:pt x="406400" y="591819"/>
                    </a:lnTo>
                    <a:lnTo>
                      <a:pt x="155231" y="774700"/>
                    </a:lnTo>
                    <a:lnTo>
                      <a:pt x="251169" y="478791"/>
                    </a:lnTo>
                    <a:lnTo>
                      <a:pt x="0" y="295909"/>
                    </a:lnTo>
                    <a:lnTo>
                      <a:pt x="310462" y="295909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DE59"/>
              </a:solidFill>
              <a:ln w="190500" cap="sq">
                <a:solidFill>
                  <a:srgbClr val="DB3E2E"/>
                </a:solidFill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228600" y="219075"/>
                <a:ext cx="355600" cy="3905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1071239" y="4259036"/>
              <a:ext cx="7380604" cy="16181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00"/>
                </a:lnSpc>
                <a:spcBef>
                  <a:spcPct val="0"/>
                </a:spcBef>
              </a:pPr>
              <a:r>
                <a:rPr lang="en-US" sz="3500">
                  <a:solidFill>
                    <a:srgbClr val="FFFFFF"/>
                  </a:solidFill>
                  <a:latin typeface="Bernoru UltraExpanded"/>
                  <a:ea typeface="Bernoru UltraExpanded"/>
                  <a:cs typeface="Bernoru UltraExpanded"/>
                  <a:sym typeface="Bernoru UltraExpanded"/>
                </a:rPr>
                <a:t>APROVADO</a:t>
              </a:r>
              <a:r>
                <a:rPr lang="en-US" sz="3500">
                  <a:solidFill>
                    <a:srgbClr val="FFFFFF"/>
                  </a:solidFill>
                  <a:latin typeface="Bernoru UltraExpanded"/>
                  <a:ea typeface="Bernoru UltraExpanded"/>
                  <a:cs typeface="Bernoru UltraExpanded"/>
                  <a:sym typeface="Bernoru UltraExpanded"/>
                </a:rPr>
                <a:t> P/ OTIMIZAÇÃO</a:t>
              </a:r>
            </a:p>
          </p:txBody>
        </p:sp>
      </p:grpSp>
    </p:spTree>
  </p:cSld>
  <p:clrMapOvr>
    <a:masterClrMapping/>
  </p:clrMapOvr>
  <p:transition spd="fast">
    <p:push dir="l"/>
  </p:transition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02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47706" y="1091179"/>
            <a:ext cx="15192587" cy="1883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352"/>
              </a:lnSpc>
            </a:pPr>
            <a:r>
              <a:rPr lang="en-US" sz="10966">
                <a:solidFill>
                  <a:srgbClr val="FFFFFF"/>
                </a:solidFill>
                <a:latin typeface="Engravers' Old English BT"/>
                <a:ea typeface="Engravers' Old English BT"/>
                <a:cs typeface="Engravers' Old English BT"/>
                <a:sym typeface="Engravers' Old English BT"/>
              </a:rPr>
              <a:t>Compiladores Otimizados</a:t>
            </a:r>
          </a:p>
        </p:txBody>
      </p:sp>
      <p:sp>
        <p:nvSpPr>
          <p:cNvPr name="Freeform 3" id="3"/>
          <p:cNvSpPr/>
          <p:nvPr/>
        </p:nvSpPr>
        <p:spPr>
          <a:xfrm flipH="true" flipV="false" rot="0">
            <a:off x="-3075389" y="9056286"/>
            <a:ext cx="24438779" cy="20925704"/>
          </a:xfrm>
          <a:custGeom>
            <a:avLst/>
            <a:gdLst/>
            <a:ahLst/>
            <a:cxnLst/>
            <a:rect r="r" b="b" t="t" l="l"/>
            <a:pathLst>
              <a:path h="20925704" w="24438779">
                <a:moveTo>
                  <a:pt x="24438778" y="0"/>
                </a:moveTo>
                <a:lnTo>
                  <a:pt x="0" y="0"/>
                </a:lnTo>
                <a:lnTo>
                  <a:pt x="0" y="20925704"/>
                </a:lnTo>
                <a:lnTo>
                  <a:pt x="24438778" y="20925704"/>
                </a:lnTo>
                <a:lnTo>
                  <a:pt x="24438778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634471" y="7050792"/>
            <a:ext cx="1249657" cy="1184050"/>
          </a:xfrm>
          <a:custGeom>
            <a:avLst/>
            <a:gdLst/>
            <a:ahLst/>
            <a:cxnLst/>
            <a:rect r="r" b="b" t="t" l="l"/>
            <a:pathLst>
              <a:path h="1184050" w="1249657">
                <a:moveTo>
                  <a:pt x="0" y="0"/>
                </a:moveTo>
                <a:lnTo>
                  <a:pt x="1249658" y="0"/>
                </a:lnTo>
                <a:lnTo>
                  <a:pt x="1249658" y="1184050"/>
                </a:lnTo>
                <a:lnTo>
                  <a:pt x="0" y="11840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7467113">
            <a:off x="491801" y="-3719719"/>
            <a:ext cx="2850742" cy="6478959"/>
          </a:xfrm>
          <a:custGeom>
            <a:avLst/>
            <a:gdLst/>
            <a:ahLst/>
            <a:cxnLst/>
            <a:rect r="r" b="b" t="t" l="l"/>
            <a:pathLst>
              <a:path h="6478959" w="2850742">
                <a:moveTo>
                  <a:pt x="0" y="0"/>
                </a:moveTo>
                <a:lnTo>
                  <a:pt x="2850742" y="0"/>
                </a:lnTo>
                <a:lnTo>
                  <a:pt x="2850742" y="6478958"/>
                </a:lnTo>
                <a:lnTo>
                  <a:pt x="0" y="64789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305591" y="-210264"/>
            <a:ext cx="6802647" cy="420527"/>
          </a:xfrm>
          <a:custGeom>
            <a:avLst/>
            <a:gdLst/>
            <a:ahLst/>
            <a:cxnLst/>
            <a:rect r="r" b="b" t="t" l="l"/>
            <a:pathLst>
              <a:path h="420527" w="6802647">
                <a:moveTo>
                  <a:pt x="0" y="0"/>
                </a:moveTo>
                <a:lnTo>
                  <a:pt x="6802647" y="0"/>
                </a:lnTo>
                <a:lnTo>
                  <a:pt x="6802647" y="420528"/>
                </a:lnTo>
                <a:lnTo>
                  <a:pt x="0" y="4205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-1187030" y="8916115"/>
            <a:ext cx="2751776" cy="2741770"/>
          </a:xfrm>
          <a:custGeom>
            <a:avLst/>
            <a:gdLst/>
            <a:ahLst/>
            <a:cxnLst/>
            <a:rect r="r" b="b" t="t" l="l"/>
            <a:pathLst>
              <a:path h="2741770" w="2751776">
                <a:moveTo>
                  <a:pt x="2751777" y="0"/>
                </a:moveTo>
                <a:lnTo>
                  <a:pt x="0" y="0"/>
                </a:lnTo>
                <a:lnTo>
                  <a:pt x="0" y="2741770"/>
                </a:lnTo>
                <a:lnTo>
                  <a:pt x="2751777" y="2741770"/>
                </a:lnTo>
                <a:lnTo>
                  <a:pt x="2751777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524166" y="2898611"/>
            <a:ext cx="11239668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AJUSTES QUE AJUDAM O COMPILADOR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24272" y="8280094"/>
            <a:ext cx="15039457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Bernoru UltraExpanded"/>
                <a:ea typeface="Bernoru UltraExpanded"/>
                <a:cs typeface="Bernoru UltraExpanded"/>
                <a:sym typeface="Bernoru UltraExpanded"/>
              </a:rPr>
              <a:t>CÓDIGO AMIGO DO COMPILADOR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942273" y="4078218"/>
            <a:ext cx="11040440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Refatorar laços (reduzir efeitos colaterais)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942273" y="5056118"/>
            <a:ext cx="11040440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Preferir arrays e acessos diretos previsíveis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942273" y="6034018"/>
            <a:ext cx="11040440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Usar restrict quando seguro (evita aliasign)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942273" y="7011918"/>
            <a:ext cx="11040440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Combinar com OpenMP quando fizer sentido</a:t>
            </a:r>
          </a:p>
        </p:txBody>
      </p:sp>
    </p:spTree>
  </p:cSld>
  <p:clrMapOvr>
    <a:masterClrMapping/>
  </p:clrMapOvr>
  <p:transition spd="fast">
    <p:push dir="l"/>
  </p:transition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5738395" y="-5699464"/>
            <a:ext cx="8254861" cy="7068225"/>
          </a:xfrm>
          <a:custGeom>
            <a:avLst/>
            <a:gdLst/>
            <a:ahLst/>
            <a:cxnLst/>
            <a:rect r="r" b="b" t="t" l="l"/>
            <a:pathLst>
              <a:path h="7068225" w="8254861">
                <a:moveTo>
                  <a:pt x="8254861" y="0"/>
                </a:moveTo>
                <a:lnTo>
                  <a:pt x="0" y="0"/>
                </a:lnTo>
                <a:lnTo>
                  <a:pt x="0" y="7068225"/>
                </a:lnTo>
                <a:lnTo>
                  <a:pt x="8254861" y="7068225"/>
                </a:lnTo>
                <a:lnTo>
                  <a:pt x="8254861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1139834" y="-1631003"/>
            <a:ext cx="2751776" cy="2741770"/>
          </a:xfrm>
          <a:custGeom>
            <a:avLst/>
            <a:gdLst/>
            <a:ahLst/>
            <a:cxnLst/>
            <a:rect r="r" b="b" t="t" l="l"/>
            <a:pathLst>
              <a:path h="2741770" w="2751776">
                <a:moveTo>
                  <a:pt x="2751776" y="0"/>
                </a:moveTo>
                <a:lnTo>
                  <a:pt x="0" y="0"/>
                </a:lnTo>
                <a:lnTo>
                  <a:pt x="0" y="2741770"/>
                </a:lnTo>
                <a:lnTo>
                  <a:pt x="2751776" y="2741770"/>
                </a:lnTo>
                <a:lnTo>
                  <a:pt x="275177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070468" y="8847567"/>
            <a:ext cx="8254861" cy="7068225"/>
          </a:xfrm>
          <a:custGeom>
            <a:avLst/>
            <a:gdLst/>
            <a:ahLst/>
            <a:cxnLst/>
            <a:rect r="r" b="b" t="t" l="l"/>
            <a:pathLst>
              <a:path h="7068225" w="8254861">
                <a:moveTo>
                  <a:pt x="0" y="0"/>
                </a:moveTo>
                <a:lnTo>
                  <a:pt x="8254861" y="0"/>
                </a:lnTo>
                <a:lnTo>
                  <a:pt x="8254861" y="7068225"/>
                </a:lnTo>
                <a:lnTo>
                  <a:pt x="0" y="70682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912112" y="9258300"/>
            <a:ext cx="2751776" cy="2741770"/>
          </a:xfrm>
          <a:custGeom>
            <a:avLst/>
            <a:gdLst/>
            <a:ahLst/>
            <a:cxnLst/>
            <a:rect r="r" b="b" t="t" l="l"/>
            <a:pathLst>
              <a:path h="2741770" w="2751776">
                <a:moveTo>
                  <a:pt x="0" y="0"/>
                </a:moveTo>
                <a:lnTo>
                  <a:pt x="2751776" y="0"/>
                </a:lnTo>
                <a:lnTo>
                  <a:pt x="2751776" y="2741770"/>
                </a:lnTo>
                <a:lnTo>
                  <a:pt x="0" y="27417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731050" y="9882743"/>
            <a:ext cx="2637400" cy="2498936"/>
          </a:xfrm>
          <a:custGeom>
            <a:avLst/>
            <a:gdLst/>
            <a:ahLst/>
            <a:cxnLst/>
            <a:rect r="r" b="b" t="t" l="l"/>
            <a:pathLst>
              <a:path h="2498936" w="2637400">
                <a:moveTo>
                  <a:pt x="0" y="0"/>
                </a:moveTo>
                <a:lnTo>
                  <a:pt x="2637400" y="0"/>
                </a:lnTo>
                <a:lnTo>
                  <a:pt x="2637400" y="2498936"/>
                </a:lnTo>
                <a:lnTo>
                  <a:pt x="0" y="24989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2091528">
            <a:off x="16862629" y="-2665318"/>
            <a:ext cx="2850742" cy="6478959"/>
          </a:xfrm>
          <a:custGeom>
            <a:avLst/>
            <a:gdLst/>
            <a:ahLst/>
            <a:cxnLst/>
            <a:rect r="r" b="b" t="t" l="l"/>
            <a:pathLst>
              <a:path h="6478959" w="2850742">
                <a:moveTo>
                  <a:pt x="0" y="0"/>
                </a:moveTo>
                <a:lnTo>
                  <a:pt x="2850742" y="0"/>
                </a:lnTo>
                <a:lnTo>
                  <a:pt x="2850742" y="6478959"/>
                </a:lnTo>
                <a:lnTo>
                  <a:pt x="0" y="647895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-2091528">
            <a:off x="-1677482" y="6717283"/>
            <a:ext cx="2850742" cy="6478959"/>
          </a:xfrm>
          <a:custGeom>
            <a:avLst/>
            <a:gdLst/>
            <a:ahLst/>
            <a:cxnLst/>
            <a:rect r="r" b="b" t="t" l="l"/>
            <a:pathLst>
              <a:path h="6478959" w="2850742">
                <a:moveTo>
                  <a:pt x="2850742" y="0"/>
                </a:moveTo>
                <a:lnTo>
                  <a:pt x="0" y="0"/>
                </a:lnTo>
                <a:lnTo>
                  <a:pt x="0" y="6478958"/>
                </a:lnTo>
                <a:lnTo>
                  <a:pt x="2850742" y="6478958"/>
                </a:lnTo>
                <a:lnTo>
                  <a:pt x="2850742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731050" y="-1509586"/>
            <a:ext cx="2637400" cy="2498936"/>
          </a:xfrm>
          <a:custGeom>
            <a:avLst/>
            <a:gdLst/>
            <a:ahLst/>
            <a:cxnLst/>
            <a:rect r="r" b="b" t="t" l="l"/>
            <a:pathLst>
              <a:path h="2498936" w="2637400">
                <a:moveTo>
                  <a:pt x="0" y="0"/>
                </a:moveTo>
                <a:lnTo>
                  <a:pt x="2637400" y="0"/>
                </a:lnTo>
                <a:lnTo>
                  <a:pt x="2637400" y="2498936"/>
                </a:lnTo>
                <a:lnTo>
                  <a:pt x="0" y="24989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330667" y="3535018"/>
            <a:ext cx="13059226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D02919"/>
                </a:solidFill>
                <a:latin typeface="Montserrat"/>
                <a:ea typeface="Montserrat"/>
                <a:cs typeface="Montserrat"/>
                <a:sym typeface="Montserrat"/>
              </a:rPr>
              <a:t>Paralelização é essencial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869086" y="1429463"/>
            <a:ext cx="12549828" cy="167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188"/>
              </a:lnSpc>
            </a:pPr>
            <a:r>
              <a:rPr lang="en-US" sz="10990">
                <a:solidFill>
                  <a:srgbClr val="D02919"/>
                </a:solidFill>
                <a:latin typeface="Engravers' Old English BT"/>
                <a:ea typeface="Engravers' Old English BT"/>
                <a:cs typeface="Engravers' Old English BT"/>
                <a:sym typeface="Engravers' Old English BT"/>
              </a:rPr>
              <a:t>Conclusões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64802" y="4720045"/>
            <a:ext cx="13059226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D0291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Semiautomática</a:t>
            </a:r>
            <a:r>
              <a:rPr lang="en-US" sz="3500">
                <a:solidFill>
                  <a:srgbClr val="D02919"/>
                </a:solidFill>
                <a:latin typeface="Montserrat"/>
                <a:ea typeface="Montserrat"/>
                <a:cs typeface="Montserrat"/>
                <a:sym typeface="Montserrat"/>
              </a:rPr>
              <a:t>: diretivas guiam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64802" y="6006528"/>
            <a:ext cx="15340271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D02919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Automática</a:t>
            </a:r>
            <a:r>
              <a:rPr lang="en-US" sz="3500">
                <a:solidFill>
                  <a:srgbClr val="D02919"/>
                </a:solidFill>
                <a:latin typeface="Proxima Nova"/>
                <a:ea typeface="Proxima Nova"/>
                <a:cs typeface="Proxima Nova"/>
                <a:sym typeface="Proxima Nova"/>
              </a:rPr>
              <a:t>: laços bem estruturados = bons candidatos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98936" y="7182030"/>
            <a:ext cx="19910215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D0291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Melhor cenário</a:t>
            </a:r>
            <a:r>
              <a:rPr lang="en-US" sz="3500">
                <a:solidFill>
                  <a:srgbClr val="D02919"/>
                </a:solidFill>
                <a:latin typeface="Montserrat"/>
                <a:ea typeface="Montserrat"/>
                <a:cs typeface="Montserrat"/>
                <a:sym typeface="Montserrat"/>
              </a:rPr>
              <a:t>: programador + compilador + otimizações</a:t>
            </a:r>
          </a:p>
        </p:txBody>
      </p:sp>
    </p:spTree>
  </p:cSld>
  <p:clrMapOvr>
    <a:masterClrMapping/>
  </p:clrMapOvr>
  <p:transition spd="fast">
    <p:push dir="l"/>
  </p:transition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537998" y="-3279035"/>
            <a:ext cx="13212004" cy="16515004"/>
          </a:xfrm>
          <a:custGeom>
            <a:avLst/>
            <a:gdLst/>
            <a:ahLst/>
            <a:cxnLst/>
            <a:rect r="r" b="b" t="t" l="l"/>
            <a:pathLst>
              <a:path h="16515004" w="13212004">
                <a:moveTo>
                  <a:pt x="0" y="0"/>
                </a:moveTo>
                <a:lnTo>
                  <a:pt x="13212004" y="0"/>
                </a:lnTo>
                <a:lnTo>
                  <a:pt x="13212004" y="16515004"/>
                </a:lnTo>
                <a:lnTo>
                  <a:pt x="0" y="165150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3075389" y="7273657"/>
            <a:ext cx="24438779" cy="20925704"/>
          </a:xfrm>
          <a:custGeom>
            <a:avLst/>
            <a:gdLst/>
            <a:ahLst/>
            <a:cxnLst/>
            <a:rect r="r" b="b" t="t" l="l"/>
            <a:pathLst>
              <a:path h="20925704" w="24438779">
                <a:moveTo>
                  <a:pt x="24438778" y="0"/>
                </a:moveTo>
                <a:lnTo>
                  <a:pt x="0" y="0"/>
                </a:lnTo>
                <a:lnTo>
                  <a:pt x="0" y="20925704"/>
                </a:lnTo>
                <a:lnTo>
                  <a:pt x="24438778" y="20925704"/>
                </a:lnTo>
                <a:lnTo>
                  <a:pt x="24438778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445664" y="7319151"/>
            <a:ext cx="3396671" cy="1812581"/>
          </a:xfrm>
          <a:custGeom>
            <a:avLst/>
            <a:gdLst/>
            <a:ahLst/>
            <a:cxnLst/>
            <a:rect r="r" b="b" t="t" l="l"/>
            <a:pathLst>
              <a:path h="1812581" w="3396671">
                <a:moveTo>
                  <a:pt x="0" y="0"/>
                </a:moveTo>
                <a:lnTo>
                  <a:pt x="3396672" y="0"/>
                </a:lnTo>
                <a:lnTo>
                  <a:pt x="3396672" y="1812581"/>
                </a:lnTo>
                <a:lnTo>
                  <a:pt x="0" y="18125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3618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257061" y="481964"/>
            <a:ext cx="1002239" cy="949621"/>
          </a:xfrm>
          <a:custGeom>
            <a:avLst/>
            <a:gdLst/>
            <a:ahLst/>
            <a:cxnLst/>
            <a:rect r="r" b="b" t="t" l="l"/>
            <a:pathLst>
              <a:path h="949621" w="1002239">
                <a:moveTo>
                  <a:pt x="0" y="0"/>
                </a:moveTo>
                <a:lnTo>
                  <a:pt x="1002239" y="0"/>
                </a:lnTo>
                <a:lnTo>
                  <a:pt x="1002239" y="949621"/>
                </a:lnTo>
                <a:lnTo>
                  <a:pt x="0" y="94962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00000">
            <a:off x="14676413" y="2087570"/>
            <a:ext cx="6802647" cy="420527"/>
          </a:xfrm>
          <a:custGeom>
            <a:avLst/>
            <a:gdLst/>
            <a:ahLst/>
            <a:cxnLst/>
            <a:rect r="r" b="b" t="t" l="l"/>
            <a:pathLst>
              <a:path h="420527" w="6802647">
                <a:moveTo>
                  <a:pt x="0" y="0"/>
                </a:moveTo>
                <a:lnTo>
                  <a:pt x="6802647" y="0"/>
                </a:lnTo>
                <a:lnTo>
                  <a:pt x="6802647" y="420528"/>
                </a:lnTo>
                <a:lnTo>
                  <a:pt x="0" y="42052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602067" y="6854557"/>
            <a:ext cx="2751776" cy="2741770"/>
          </a:xfrm>
          <a:custGeom>
            <a:avLst/>
            <a:gdLst/>
            <a:ahLst/>
            <a:cxnLst/>
            <a:rect r="r" b="b" t="t" l="l"/>
            <a:pathLst>
              <a:path h="2741770" w="2751776">
                <a:moveTo>
                  <a:pt x="0" y="0"/>
                </a:moveTo>
                <a:lnTo>
                  <a:pt x="2751777" y="0"/>
                </a:lnTo>
                <a:lnTo>
                  <a:pt x="2751777" y="2741770"/>
                </a:lnTo>
                <a:lnTo>
                  <a:pt x="0" y="274177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920366" y="6854557"/>
            <a:ext cx="2751776" cy="2741770"/>
          </a:xfrm>
          <a:custGeom>
            <a:avLst/>
            <a:gdLst/>
            <a:ahLst/>
            <a:cxnLst/>
            <a:rect r="r" b="b" t="t" l="l"/>
            <a:pathLst>
              <a:path h="2741770" w="2751776">
                <a:moveTo>
                  <a:pt x="0" y="0"/>
                </a:moveTo>
                <a:lnTo>
                  <a:pt x="2751776" y="0"/>
                </a:lnTo>
                <a:lnTo>
                  <a:pt x="2751776" y="2741770"/>
                </a:lnTo>
                <a:lnTo>
                  <a:pt x="0" y="274177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7278005">
            <a:off x="-396671" y="-2402454"/>
            <a:ext cx="2850742" cy="6478959"/>
          </a:xfrm>
          <a:custGeom>
            <a:avLst/>
            <a:gdLst/>
            <a:ahLst/>
            <a:cxnLst/>
            <a:rect r="r" b="b" t="t" l="l"/>
            <a:pathLst>
              <a:path h="6478959" w="2850742">
                <a:moveTo>
                  <a:pt x="0" y="0"/>
                </a:moveTo>
                <a:lnTo>
                  <a:pt x="2850742" y="0"/>
                </a:lnTo>
                <a:lnTo>
                  <a:pt x="2850742" y="6478959"/>
                </a:lnTo>
                <a:lnTo>
                  <a:pt x="0" y="647895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983586" y="3760284"/>
            <a:ext cx="12320827" cy="1912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240"/>
              </a:lnSpc>
            </a:pPr>
            <a:r>
              <a:rPr lang="en-US" sz="12000">
                <a:solidFill>
                  <a:srgbClr val="FFFFFF"/>
                </a:solidFill>
                <a:latin typeface="Engravers' Old English BT"/>
                <a:ea typeface="Engravers' Old English BT"/>
                <a:cs typeface="Engravers' Old English BT"/>
                <a:sym typeface="Engravers' Old English BT"/>
              </a:rPr>
              <a:t>Obrigado!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2956964" y="3644517"/>
            <a:ext cx="1568739" cy="2229879"/>
          </a:xfrm>
          <a:custGeom>
            <a:avLst/>
            <a:gdLst/>
            <a:ahLst/>
            <a:cxnLst/>
            <a:rect r="r" b="b" t="t" l="l"/>
            <a:pathLst>
              <a:path h="2229879" w="1568739">
                <a:moveTo>
                  <a:pt x="0" y="0"/>
                </a:moveTo>
                <a:lnTo>
                  <a:pt x="1568740" y="0"/>
                </a:lnTo>
                <a:lnTo>
                  <a:pt x="1568740" y="2229879"/>
                </a:lnTo>
                <a:lnTo>
                  <a:pt x="0" y="222987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3752839" y="3644517"/>
            <a:ext cx="1568739" cy="2229879"/>
          </a:xfrm>
          <a:custGeom>
            <a:avLst/>
            <a:gdLst/>
            <a:ahLst/>
            <a:cxnLst/>
            <a:rect r="r" b="b" t="t" l="l"/>
            <a:pathLst>
              <a:path h="2229879" w="1568739">
                <a:moveTo>
                  <a:pt x="1568739" y="0"/>
                </a:moveTo>
                <a:lnTo>
                  <a:pt x="0" y="0"/>
                </a:lnTo>
                <a:lnTo>
                  <a:pt x="0" y="2229879"/>
                </a:lnTo>
                <a:lnTo>
                  <a:pt x="1568739" y="2229879"/>
                </a:lnTo>
                <a:lnTo>
                  <a:pt x="1568739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050846" y="332158"/>
            <a:ext cx="10186307" cy="504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97"/>
              </a:lnSpc>
              <a:spcBef>
                <a:spcPct val="0"/>
              </a:spcBef>
            </a:pPr>
            <a:r>
              <a:rPr lang="en-US" sz="2998">
                <a:solidFill>
                  <a:srgbClr val="FFFFFF"/>
                </a:solidFill>
                <a:latin typeface="Engravers' Old English BT"/>
                <a:ea typeface="Engravers' Old English BT"/>
                <a:cs typeface="Engravers' Old English BT"/>
                <a:sym typeface="Engravers' Old English BT"/>
              </a:rPr>
              <a:t>Paralelização de código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658684" y="7538226"/>
            <a:ext cx="2896724" cy="1160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345"/>
              </a:lnSpc>
              <a:spcBef>
                <a:spcPct val="0"/>
              </a:spcBef>
            </a:pPr>
            <a:r>
              <a:rPr lang="en-US" sz="6675">
                <a:solidFill>
                  <a:srgbClr val="D02919"/>
                </a:solidFill>
                <a:latin typeface="Engravers' Old English BT"/>
                <a:ea typeface="Engravers' Old English BT"/>
                <a:cs typeface="Engravers' Old English BT"/>
                <a:sym typeface="Engravers' Old English BT"/>
              </a:rPr>
              <a:t>6 6 6</a:t>
            </a:r>
          </a:p>
        </p:txBody>
      </p:sp>
    </p:spTree>
  </p:cSld>
  <p:clrMapOvr>
    <a:masterClrMapping/>
  </p:clrMapOvr>
  <p:transition spd="slow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DAG3qwaGB6Y</dc:identifier>
  <dcterms:modified xsi:type="dcterms:W3CDTF">2011-08-01T06:04:30Z</dcterms:modified>
  <cp:revision>1</cp:revision>
  <dc:title>Seminário Compiladores II - Paralelização de Código</dc:title>
</cp:coreProperties>
</file>